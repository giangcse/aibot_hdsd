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1C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784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userDrawn="1">
          <p15:clr>
            <a:srgbClr val="F26B43"/>
          </p15:clr>
        </p15:guide>
        <p15:guide id="2" pos="46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2300288"/>
            <a:ext cx="7556421" cy="2835354"/>
          </a:xfrm>
          <a:prstGeom prst="rect">
            <a:avLst/>
          </a:prstGeom>
          <a:noFill/>
          <a:ln/>
        </p:spPr>
        <p:txBody>
          <a:bodyPr wrap="square" lIns="0" tIns="0" rIns="0" bIns="0" rtlCol="0" anchor="t"/>
          <a:lstStyle/>
          <a:p>
            <a:pPr marL="0" indent="0" algn="l">
              <a:lnSpc>
                <a:spcPts val="11150"/>
              </a:lnSpc>
              <a:buNone/>
            </a:pPr>
            <a:r>
              <a:rPr lang="en-US" sz="8900" dirty="0">
                <a:solidFill>
                  <a:srgbClr val="091C53"/>
                </a:solidFill>
                <a:latin typeface="Aptos Display" panose="020B0004020202020204" pitchFamily="34" charset="0"/>
                <a:ea typeface="Instrument Sans Semi Bold" pitchFamily="34" charset="-122"/>
                <a:cs typeface="Instrument Sans Semi Bold" pitchFamily="34" charset="-120"/>
              </a:rPr>
              <a:t>Generative AI, LLM và RAG</a:t>
            </a:r>
            <a:endParaRPr lang="en-US" sz="8900" dirty="0">
              <a:latin typeface="Aptos Display" panose="020B0004020202020204" pitchFamily="34" charset="0"/>
            </a:endParaRPr>
          </a:p>
        </p:txBody>
      </p:sp>
      <p:sp>
        <p:nvSpPr>
          <p:cNvPr id="4" name="Text 1"/>
          <p:cNvSpPr/>
          <p:nvPr/>
        </p:nvSpPr>
        <p:spPr>
          <a:xfrm>
            <a:off x="6280190" y="5475803"/>
            <a:ext cx="7556421" cy="453509"/>
          </a:xfrm>
          <a:prstGeom prst="rect">
            <a:avLst/>
          </a:prstGeom>
          <a:noFill/>
          <a:ln/>
        </p:spPr>
        <p:txBody>
          <a:bodyPr wrap="none" lIns="0" tIns="0" rIns="0" bIns="0" rtlCol="0" anchor="t"/>
          <a:lstStyle/>
          <a:p>
            <a:pPr marL="0" indent="0" algn="l">
              <a:lnSpc>
                <a:spcPts val="3550"/>
              </a:lnSpc>
              <a:buNone/>
            </a:pPr>
            <a:r>
              <a:rPr lang="en-US" sz="2200" dirty="0">
                <a:solidFill>
                  <a:srgbClr val="1E3063"/>
                </a:solidFill>
                <a:latin typeface="Aptos Display" panose="020B0004020202020204" pitchFamily="34" charset="0"/>
                <a:ea typeface="Instrument Sans Medium" pitchFamily="34" charset="-122"/>
                <a:cs typeface="Instrument Sans Medium" pitchFamily="34" charset="-120"/>
              </a:rPr>
              <a:t>Ba Thành Phần Cốt Lõi của Trí Tuệ Nhân Tạo Tạo Sinh</a:t>
            </a:r>
            <a:endParaRPr lang="en-US" sz="2200" dirty="0">
              <a:latin typeface="Aptos Display"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17507"/>
          </a:xfrm>
          <a:prstGeom prst="rect">
            <a:avLst/>
          </a:prstGeom>
        </p:spPr>
      </p:pic>
      <p:sp>
        <p:nvSpPr>
          <p:cNvPr id="3" name="Text 0"/>
          <p:cNvSpPr/>
          <p:nvPr/>
        </p:nvSpPr>
        <p:spPr>
          <a:xfrm>
            <a:off x="777954" y="3389947"/>
            <a:ext cx="5557480" cy="694730"/>
          </a:xfrm>
          <a:prstGeom prst="rect">
            <a:avLst/>
          </a:prstGeom>
          <a:noFill/>
          <a:ln/>
        </p:spPr>
        <p:txBody>
          <a:bodyPr wrap="none" lIns="0" tIns="0" rIns="0" bIns="0" rtlCol="0" anchor="t"/>
          <a:lstStyle/>
          <a:p>
            <a:pPr marL="0" indent="0" algn="l">
              <a:lnSpc>
                <a:spcPts val="5450"/>
              </a:lnSpc>
              <a:buNone/>
            </a:pPr>
            <a:r>
              <a:rPr lang="en-US" sz="4350" dirty="0">
                <a:solidFill>
                  <a:srgbClr val="091C53"/>
                </a:solidFill>
                <a:latin typeface="Aptos Display" panose="020B0004020202020204" pitchFamily="34" charset="0"/>
                <a:ea typeface="Instrument Sans Semi Bold" pitchFamily="34" charset="-122"/>
                <a:cs typeface="Instrument Sans Semi Bold" pitchFamily="34" charset="-120"/>
              </a:rPr>
              <a:t>Generative AI là gì?</a:t>
            </a:r>
            <a:endParaRPr lang="en-US" sz="4350" dirty="0">
              <a:latin typeface="Aptos Display" panose="020B0004020202020204" pitchFamily="34" charset="0"/>
            </a:endParaRPr>
          </a:p>
        </p:txBody>
      </p:sp>
      <p:sp>
        <p:nvSpPr>
          <p:cNvPr id="4" name="Text 1"/>
          <p:cNvSpPr/>
          <p:nvPr/>
        </p:nvSpPr>
        <p:spPr>
          <a:xfrm>
            <a:off x="777954" y="4418052"/>
            <a:ext cx="13074491" cy="711279"/>
          </a:xfrm>
          <a:prstGeom prst="rect">
            <a:avLst/>
          </a:prstGeom>
          <a:noFill/>
          <a:ln/>
        </p:spPr>
        <p:txBody>
          <a:bodyPr wrap="square" lIns="0" tIns="0" rIns="0" bIns="0" rtlCol="0" anchor="t"/>
          <a:lstStyle/>
          <a:p>
            <a:pPr marL="0" indent="0" algn="l">
              <a:lnSpc>
                <a:spcPts val="2800"/>
              </a:lnSpc>
              <a:buNone/>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Công nghệ AI có khả năng tạo ra nội dung mới như văn bản, hình ảnh, âm thanh dựa trên dữ liệu đầu vào. Những hệ thống này học từ các mẫu trong dữ liệu lịch sử để sinh ra output mới, sáng tạo và liên quan.</a:t>
            </a:r>
            <a:endParaRPr lang="en-US" sz="1750" dirty="0">
              <a:latin typeface="Aptos Display" panose="020B0004020202020204" pitchFamily="34" charset="0"/>
            </a:endParaRPr>
          </a:p>
        </p:txBody>
      </p:sp>
      <p:sp>
        <p:nvSpPr>
          <p:cNvPr id="5" name="Shape 2"/>
          <p:cNvSpPr/>
          <p:nvPr/>
        </p:nvSpPr>
        <p:spPr>
          <a:xfrm>
            <a:off x="777954" y="5379363"/>
            <a:ext cx="4209931" cy="1636514"/>
          </a:xfrm>
          <a:prstGeom prst="roundRect">
            <a:avLst>
              <a:gd name="adj" fmla="val 12225"/>
            </a:avLst>
          </a:prstGeom>
          <a:solidFill>
            <a:srgbClr val="CEE6FD"/>
          </a:solidFill>
          <a:ln/>
        </p:spPr>
        <p:txBody>
          <a:bodyPr/>
          <a:lstStyle/>
          <a:p>
            <a:endParaRPr lang="en-US">
              <a:latin typeface="Aptos Display" panose="020B0004020202020204" pitchFamily="34" charset="0"/>
            </a:endParaRPr>
          </a:p>
        </p:txBody>
      </p:sp>
      <p:sp>
        <p:nvSpPr>
          <p:cNvPr id="6" name="Text 3"/>
          <p:cNvSpPr/>
          <p:nvPr/>
        </p:nvSpPr>
        <p:spPr>
          <a:xfrm>
            <a:off x="1000244" y="5601653"/>
            <a:ext cx="2778681" cy="347305"/>
          </a:xfrm>
          <a:prstGeom prst="rect">
            <a:avLst/>
          </a:prstGeom>
          <a:noFill/>
          <a:ln/>
        </p:spPr>
        <p:txBody>
          <a:bodyPr wrap="none" lIns="0" tIns="0" rIns="0" bIns="0" rtlCol="0" anchor="t"/>
          <a:lstStyle/>
          <a:p>
            <a:pPr marL="0" indent="0" algn="l">
              <a:lnSpc>
                <a:spcPts val="2700"/>
              </a:lnSpc>
              <a:buNone/>
            </a:pPr>
            <a:r>
              <a:rPr lang="en-US" sz="2150" dirty="0">
                <a:solidFill>
                  <a:srgbClr val="1E3063"/>
                </a:solidFill>
                <a:latin typeface="Aptos Display" panose="020B0004020202020204" pitchFamily="34" charset="0"/>
                <a:ea typeface="Instrument Sans Semi Bold" pitchFamily="34" charset="-122"/>
                <a:cs typeface="Instrument Sans Semi Bold" pitchFamily="34" charset="-120"/>
              </a:rPr>
              <a:t>ChatGPT</a:t>
            </a:r>
            <a:endParaRPr lang="en-US" sz="2150" dirty="0">
              <a:latin typeface="Aptos Display" panose="020B0004020202020204" pitchFamily="34" charset="0"/>
            </a:endParaRPr>
          </a:p>
        </p:txBody>
      </p:sp>
      <p:sp>
        <p:nvSpPr>
          <p:cNvPr id="7" name="Text 4"/>
          <p:cNvSpPr/>
          <p:nvPr/>
        </p:nvSpPr>
        <p:spPr>
          <a:xfrm>
            <a:off x="1000244" y="6082308"/>
            <a:ext cx="3765352" cy="711279"/>
          </a:xfrm>
          <a:prstGeom prst="rect">
            <a:avLst/>
          </a:prstGeom>
          <a:noFill/>
          <a:ln/>
        </p:spPr>
        <p:txBody>
          <a:bodyPr wrap="square" lIns="0" tIns="0" rIns="0" bIns="0" rtlCol="0" anchor="t"/>
          <a:lstStyle/>
          <a:p>
            <a:pPr marL="0" indent="0" algn="l">
              <a:lnSpc>
                <a:spcPts val="2800"/>
              </a:lnSpc>
              <a:buNone/>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Tạo văn bản tự nhiên và trả lời câu hỏi</a:t>
            </a:r>
            <a:endParaRPr lang="en-US" sz="1750" dirty="0">
              <a:latin typeface="Aptos Display" panose="020B0004020202020204" pitchFamily="34" charset="0"/>
            </a:endParaRPr>
          </a:p>
        </p:txBody>
      </p:sp>
      <p:sp>
        <p:nvSpPr>
          <p:cNvPr id="8" name="Shape 5"/>
          <p:cNvSpPr/>
          <p:nvPr/>
        </p:nvSpPr>
        <p:spPr>
          <a:xfrm>
            <a:off x="5210175" y="5379363"/>
            <a:ext cx="4209931" cy="1636514"/>
          </a:xfrm>
          <a:prstGeom prst="roundRect">
            <a:avLst>
              <a:gd name="adj" fmla="val 12225"/>
            </a:avLst>
          </a:prstGeom>
          <a:solidFill>
            <a:srgbClr val="CEE6FD"/>
          </a:solidFill>
          <a:ln/>
        </p:spPr>
        <p:txBody>
          <a:bodyPr/>
          <a:lstStyle/>
          <a:p>
            <a:endParaRPr lang="en-US">
              <a:latin typeface="Aptos Display" panose="020B0004020202020204" pitchFamily="34" charset="0"/>
            </a:endParaRPr>
          </a:p>
        </p:txBody>
      </p:sp>
      <p:sp>
        <p:nvSpPr>
          <p:cNvPr id="9" name="Text 6"/>
          <p:cNvSpPr/>
          <p:nvPr/>
        </p:nvSpPr>
        <p:spPr>
          <a:xfrm>
            <a:off x="5432465" y="5601653"/>
            <a:ext cx="2778681" cy="347305"/>
          </a:xfrm>
          <a:prstGeom prst="rect">
            <a:avLst/>
          </a:prstGeom>
          <a:noFill/>
          <a:ln/>
        </p:spPr>
        <p:txBody>
          <a:bodyPr wrap="none" lIns="0" tIns="0" rIns="0" bIns="0" rtlCol="0" anchor="t"/>
          <a:lstStyle/>
          <a:p>
            <a:pPr marL="0" indent="0" algn="l">
              <a:lnSpc>
                <a:spcPts val="2700"/>
              </a:lnSpc>
              <a:buNone/>
            </a:pPr>
            <a:r>
              <a:rPr lang="en-US" sz="2150" dirty="0">
                <a:solidFill>
                  <a:srgbClr val="1E3063"/>
                </a:solidFill>
                <a:latin typeface="Aptos Display" panose="020B0004020202020204" pitchFamily="34" charset="0"/>
                <a:ea typeface="Instrument Sans Semi Bold" pitchFamily="34" charset="-122"/>
                <a:cs typeface="Instrument Sans Semi Bold" pitchFamily="34" charset="-120"/>
              </a:rPr>
              <a:t>DALL·E</a:t>
            </a:r>
            <a:endParaRPr lang="en-US" sz="2150" dirty="0">
              <a:latin typeface="Aptos Display" panose="020B0004020202020204" pitchFamily="34" charset="0"/>
            </a:endParaRPr>
          </a:p>
        </p:txBody>
      </p:sp>
      <p:sp>
        <p:nvSpPr>
          <p:cNvPr id="10" name="Text 7"/>
          <p:cNvSpPr/>
          <p:nvPr/>
        </p:nvSpPr>
        <p:spPr>
          <a:xfrm>
            <a:off x="5432465" y="6082308"/>
            <a:ext cx="3765352" cy="355640"/>
          </a:xfrm>
          <a:prstGeom prst="rect">
            <a:avLst/>
          </a:prstGeom>
          <a:noFill/>
          <a:ln/>
        </p:spPr>
        <p:txBody>
          <a:bodyPr wrap="none" lIns="0" tIns="0" rIns="0" bIns="0" rtlCol="0" anchor="t"/>
          <a:lstStyle/>
          <a:p>
            <a:pPr marL="0" indent="0" algn="l">
              <a:lnSpc>
                <a:spcPts val="2800"/>
              </a:lnSpc>
              <a:buNone/>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Sinh ra hình ảnh từ mô tả văn bản</a:t>
            </a:r>
            <a:endParaRPr lang="en-US" sz="1750" dirty="0">
              <a:latin typeface="Aptos Display" panose="020B0004020202020204" pitchFamily="34" charset="0"/>
            </a:endParaRPr>
          </a:p>
        </p:txBody>
      </p:sp>
      <p:sp>
        <p:nvSpPr>
          <p:cNvPr id="11" name="Shape 8"/>
          <p:cNvSpPr/>
          <p:nvPr/>
        </p:nvSpPr>
        <p:spPr>
          <a:xfrm>
            <a:off x="9642396" y="5379363"/>
            <a:ext cx="4209931" cy="1636514"/>
          </a:xfrm>
          <a:prstGeom prst="roundRect">
            <a:avLst>
              <a:gd name="adj" fmla="val 12225"/>
            </a:avLst>
          </a:prstGeom>
          <a:solidFill>
            <a:srgbClr val="CEE6FD"/>
          </a:solidFill>
          <a:ln/>
        </p:spPr>
        <p:txBody>
          <a:bodyPr/>
          <a:lstStyle/>
          <a:p>
            <a:endParaRPr lang="en-US">
              <a:latin typeface="Aptos Display" panose="020B0004020202020204" pitchFamily="34" charset="0"/>
            </a:endParaRPr>
          </a:p>
        </p:txBody>
      </p:sp>
      <p:sp>
        <p:nvSpPr>
          <p:cNvPr id="12" name="Text 9"/>
          <p:cNvSpPr/>
          <p:nvPr/>
        </p:nvSpPr>
        <p:spPr>
          <a:xfrm>
            <a:off x="9864685" y="5601653"/>
            <a:ext cx="2778681" cy="347305"/>
          </a:xfrm>
          <a:prstGeom prst="rect">
            <a:avLst/>
          </a:prstGeom>
          <a:noFill/>
          <a:ln/>
        </p:spPr>
        <p:txBody>
          <a:bodyPr wrap="none" lIns="0" tIns="0" rIns="0" bIns="0" rtlCol="0" anchor="t"/>
          <a:lstStyle/>
          <a:p>
            <a:pPr marL="0" indent="0" algn="l">
              <a:lnSpc>
                <a:spcPts val="2700"/>
              </a:lnSpc>
              <a:buNone/>
            </a:pPr>
            <a:r>
              <a:rPr lang="en-US" sz="2150" dirty="0">
                <a:solidFill>
                  <a:srgbClr val="1E3063"/>
                </a:solidFill>
                <a:latin typeface="Aptos Display" panose="020B0004020202020204" pitchFamily="34" charset="0"/>
                <a:ea typeface="Instrument Sans Semi Bold" pitchFamily="34" charset="-122"/>
                <a:cs typeface="Instrument Sans Semi Bold" pitchFamily="34" charset="-120"/>
              </a:rPr>
              <a:t>Stable Diffusion</a:t>
            </a:r>
            <a:endParaRPr lang="en-US" sz="2150" dirty="0">
              <a:latin typeface="Aptos Display" panose="020B0004020202020204" pitchFamily="34" charset="0"/>
            </a:endParaRPr>
          </a:p>
        </p:txBody>
      </p:sp>
      <p:sp>
        <p:nvSpPr>
          <p:cNvPr id="13" name="Text 10"/>
          <p:cNvSpPr/>
          <p:nvPr/>
        </p:nvSpPr>
        <p:spPr>
          <a:xfrm>
            <a:off x="9864685" y="6082308"/>
            <a:ext cx="3765352" cy="355640"/>
          </a:xfrm>
          <a:prstGeom prst="rect">
            <a:avLst/>
          </a:prstGeom>
          <a:noFill/>
          <a:ln/>
        </p:spPr>
        <p:txBody>
          <a:bodyPr wrap="none" lIns="0" tIns="0" rIns="0" bIns="0" rtlCol="0" anchor="t"/>
          <a:lstStyle/>
          <a:p>
            <a:pPr marL="0" indent="0" algn="l">
              <a:lnSpc>
                <a:spcPts val="2800"/>
              </a:lnSpc>
              <a:buNone/>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Tạo hình ảnh có độ phân giải cao</a:t>
            </a:r>
            <a:endParaRPr lang="en-US" sz="1750" dirty="0">
              <a:latin typeface="Aptos Display" panose="020B0004020202020204" pitchFamily="34" charset="0"/>
            </a:endParaRPr>
          </a:p>
        </p:txBody>
      </p:sp>
      <p:sp>
        <p:nvSpPr>
          <p:cNvPr id="14" name="Text 11"/>
          <p:cNvSpPr/>
          <p:nvPr/>
        </p:nvSpPr>
        <p:spPr>
          <a:xfrm>
            <a:off x="777954" y="7265908"/>
            <a:ext cx="13074491" cy="355640"/>
          </a:xfrm>
          <a:prstGeom prst="rect">
            <a:avLst/>
          </a:prstGeom>
          <a:noFill/>
          <a:ln/>
        </p:spPr>
        <p:txBody>
          <a:bodyPr wrap="none" lIns="0" tIns="0" rIns="0" bIns="0" rtlCol="0" anchor="t"/>
          <a:lstStyle/>
          <a:p>
            <a:pPr marL="0" indent="0" algn="l">
              <a:lnSpc>
                <a:spcPts val="2800"/>
              </a:lnSpc>
              <a:buNone/>
            </a:pPr>
            <a:r>
              <a:rPr lang="en-US" sz="1750" b="1" dirty="0">
                <a:solidFill>
                  <a:srgbClr val="1E3063"/>
                </a:solidFill>
                <a:latin typeface="Aptos Display" panose="020B0004020202020204" pitchFamily="34" charset="0"/>
                <a:ea typeface="Instrument Sans Medium" pitchFamily="34" charset="-122"/>
                <a:cs typeface="Instrument Sans Medium" pitchFamily="34" charset="-120"/>
              </a:rPr>
              <a:t>Ứng dụng thực tế:</a:t>
            </a: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 sáng tạo nội dung, hỗ trợ khách hàng, tự động hóa công việc, và nhiều lĩnh vực khác.</a:t>
            </a:r>
            <a:endParaRPr lang="en-US" sz="1750" dirty="0">
              <a:latin typeface="Aptos Display"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95238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091C53"/>
                </a:solidFill>
                <a:latin typeface="Aptos Display" panose="020B0004020202020204" pitchFamily="34" charset="0"/>
                <a:ea typeface="Instrument Sans Semi Bold" pitchFamily="34" charset="-122"/>
                <a:cs typeface="Instrument Sans Semi Bold" pitchFamily="34" charset="-120"/>
              </a:rPr>
              <a:t>Mô Hình Ngôn Ngữ Lớn (LLM)</a:t>
            </a:r>
            <a:endParaRPr lang="en-US" sz="4450" dirty="0">
              <a:latin typeface="Aptos Display" panose="020B0004020202020204" pitchFamily="34" charset="0"/>
            </a:endParaRPr>
          </a:p>
        </p:txBody>
      </p:sp>
      <p:sp>
        <p:nvSpPr>
          <p:cNvPr id="4" name="Text 1"/>
          <p:cNvSpPr/>
          <p:nvPr/>
        </p:nvSpPr>
        <p:spPr>
          <a:xfrm>
            <a:off x="6280190" y="2710101"/>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LLM là trái tim của Generative AI - những mô hình được huấn luyện trên hàng tỷ tham số và hàng triệu tỷ từ dữ liệu để hiểu và tạo ra ngôn ngữ tự nhiên với độ chính xác cao.</a:t>
            </a:r>
            <a:endParaRPr lang="en-US" sz="1750" dirty="0">
              <a:latin typeface="Aptos Display" panose="020B0004020202020204" pitchFamily="34" charset="0"/>
            </a:endParaRPr>
          </a:p>
        </p:txBody>
      </p:sp>
      <p:sp>
        <p:nvSpPr>
          <p:cNvPr id="5" name="Text 2"/>
          <p:cNvSpPr/>
          <p:nvPr/>
        </p:nvSpPr>
        <p:spPr>
          <a:xfrm>
            <a:off x="6280190" y="42807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Aptos Display" panose="020B0004020202020204" pitchFamily="34" charset="0"/>
                <a:ea typeface="Instrument Sans Semi Bold" pitchFamily="34" charset="-122"/>
                <a:cs typeface="Instrument Sans Semi Bold" pitchFamily="34" charset="-120"/>
              </a:rPr>
              <a:t>Ví Dụ Nổi Bật</a:t>
            </a:r>
            <a:endParaRPr lang="en-US" sz="2200" dirty="0">
              <a:latin typeface="Aptos Display" panose="020B0004020202020204" pitchFamily="34" charset="0"/>
            </a:endParaRPr>
          </a:p>
        </p:txBody>
      </p:sp>
      <p:sp>
        <p:nvSpPr>
          <p:cNvPr id="6" name="Text 3"/>
          <p:cNvSpPr/>
          <p:nvPr/>
        </p:nvSpPr>
        <p:spPr>
          <a:xfrm>
            <a:off x="6280190" y="4861917"/>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GPT-4: Mô hình sinh mạnh nhất</a:t>
            </a:r>
            <a:endParaRPr lang="en-US" sz="1750" dirty="0">
              <a:latin typeface="Aptos Display" panose="020B0004020202020204" pitchFamily="34" charset="0"/>
            </a:endParaRPr>
          </a:p>
        </p:txBody>
      </p:sp>
      <p:sp>
        <p:nvSpPr>
          <p:cNvPr id="7" name="Text 4"/>
          <p:cNvSpPr/>
          <p:nvPr/>
        </p:nvSpPr>
        <p:spPr>
          <a:xfrm>
            <a:off x="6280190" y="566701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LLaMA: Mô hình mã nguồn mở</a:t>
            </a:r>
            <a:endParaRPr lang="en-US" sz="1750" dirty="0">
              <a:latin typeface="Aptos Display" panose="020B0004020202020204" pitchFamily="34" charset="0"/>
            </a:endParaRPr>
          </a:p>
        </p:txBody>
      </p:sp>
      <p:sp>
        <p:nvSpPr>
          <p:cNvPr id="8" name="Text 5"/>
          <p:cNvSpPr/>
          <p:nvPr/>
        </p:nvSpPr>
        <p:spPr>
          <a:xfrm>
            <a:off x="6280190" y="647211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Google Gemini: Xử lý đa phương thức</a:t>
            </a:r>
            <a:endParaRPr lang="en-US" sz="1750" dirty="0">
              <a:latin typeface="Aptos Display" panose="020B0004020202020204" pitchFamily="34" charset="0"/>
            </a:endParaRPr>
          </a:p>
        </p:txBody>
      </p:sp>
      <p:sp>
        <p:nvSpPr>
          <p:cNvPr id="9" name="Text 6"/>
          <p:cNvSpPr/>
          <p:nvPr/>
        </p:nvSpPr>
        <p:spPr>
          <a:xfrm>
            <a:off x="10342721" y="42807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Aptos Display" panose="020B0004020202020204" pitchFamily="34" charset="0"/>
                <a:ea typeface="Instrument Sans Semi Bold" pitchFamily="34" charset="-122"/>
                <a:cs typeface="Instrument Sans Semi Bold" pitchFamily="34" charset="-120"/>
              </a:rPr>
              <a:t>Hạn Chế Chính</a:t>
            </a:r>
            <a:endParaRPr lang="en-US" sz="2200" dirty="0">
              <a:latin typeface="Aptos Display" panose="020B0004020202020204" pitchFamily="34" charset="0"/>
            </a:endParaRPr>
          </a:p>
        </p:txBody>
      </p:sp>
      <p:sp>
        <p:nvSpPr>
          <p:cNvPr id="10" name="Text 7"/>
          <p:cNvSpPr/>
          <p:nvPr/>
        </p:nvSpPr>
        <p:spPr>
          <a:xfrm>
            <a:off x="10342721" y="4861917"/>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Kiến thức tĩnh, không cập nhật</a:t>
            </a:r>
            <a:endParaRPr lang="en-US" sz="1750" dirty="0">
              <a:latin typeface="Aptos Display" panose="020B0004020202020204" pitchFamily="34" charset="0"/>
            </a:endParaRPr>
          </a:p>
        </p:txBody>
      </p:sp>
      <p:sp>
        <p:nvSpPr>
          <p:cNvPr id="11" name="Text 8"/>
          <p:cNvSpPr/>
          <p:nvPr/>
        </p:nvSpPr>
        <p:spPr>
          <a:xfrm>
            <a:off x="10342721" y="566701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Dễ tạo ra thông tin sai lệch (hallucination)</a:t>
            </a:r>
            <a:endParaRPr lang="en-US" sz="1750" dirty="0">
              <a:latin typeface="Aptos Display" panose="020B0004020202020204" pitchFamily="34" charset="0"/>
            </a:endParaRPr>
          </a:p>
        </p:txBody>
      </p:sp>
      <p:sp>
        <p:nvSpPr>
          <p:cNvPr id="12" name="Text 9"/>
          <p:cNvSpPr/>
          <p:nvPr/>
        </p:nvSpPr>
        <p:spPr>
          <a:xfrm>
            <a:off x="10342721" y="6472118"/>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E3063"/>
                </a:solidFill>
                <a:latin typeface="Aptos Display" panose="020B0004020202020204" pitchFamily="34" charset="0"/>
                <a:ea typeface="Instrument Sans Medium" pitchFamily="34" charset="-122"/>
                <a:cs typeface="Instrument Sans Medium" pitchFamily="34" charset="-120"/>
              </a:rPr>
              <a:t>Chi phí cao để đào tạo lại</a:t>
            </a:r>
            <a:endParaRPr lang="en-US" sz="1750" dirty="0">
              <a:latin typeface="Aptos Display"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10538" y="896064"/>
            <a:ext cx="7281624" cy="646509"/>
          </a:xfrm>
          <a:prstGeom prst="rect">
            <a:avLst/>
          </a:prstGeom>
          <a:noFill/>
          <a:ln/>
        </p:spPr>
        <p:txBody>
          <a:bodyPr wrap="none" lIns="0" tIns="0" rIns="0" bIns="0" rtlCol="0" anchor="t"/>
          <a:lstStyle/>
          <a:p>
            <a:pPr marL="0" indent="0" algn="l">
              <a:lnSpc>
                <a:spcPts val="5050"/>
              </a:lnSpc>
              <a:buNone/>
            </a:pPr>
            <a:r>
              <a:rPr lang="en-US" sz="4050" dirty="0">
                <a:solidFill>
                  <a:srgbClr val="091C53"/>
                </a:solidFill>
                <a:latin typeface="Aptos Display" panose="020B0004020202020204" pitchFamily="34" charset="0"/>
                <a:ea typeface="Instrument Sans Semi Bold" pitchFamily="34" charset="-122"/>
                <a:cs typeface="Instrument Sans Semi Bold" pitchFamily="34" charset="-120"/>
              </a:rPr>
              <a:t>RAG: Giải Pháp Nâng Cao LLM</a:t>
            </a:r>
            <a:endParaRPr lang="en-US" sz="4050" dirty="0">
              <a:latin typeface="Aptos Display" panose="020B0004020202020204" pitchFamily="34" charset="0"/>
            </a:endParaRPr>
          </a:p>
        </p:txBody>
      </p:sp>
      <p:sp>
        <p:nvSpPr>
          <p:cNvPr id="4" name="Text 1"/>
          <p:cNvSpPr/>
          <p:nvPr/>
        </p:nvSpPr>
        <p:spPr>
          <a:xfrm>
            <a:off x="6210538" y="1852851"/>
            <a:ext cx="7695724" cy="992981"/>
          </a:xfrm>
          <a:prstGeom prst="rect">
            <a:avLst/>
          </a:prstGeom>
          <a:noFill/>
          <a:ln/>
        </p:spPr>
        <p:txBody>
          <a:bodyPr wrap="square" lIns="0" tIns="0" rIns="0" bIns="0" rtlCol="0" anchor="t"/>
          <a:lstStyle/>
          <a:p>
            <a:pPr marL="0" indent="0" algn="l">
              <a:lnSpc>
                <a:spcPts val="2600"/>
              </a:lnSpc>
              <a:buNone/>
            </a:pPr>
            <a:r>
              <a:rPr lang="en-US" sz="1600" dirty="0">
                <a:solidFill>
                  <a:srgbClr val="1E3063"/>
                </a:solidFill>
                <a:latin typeface="Aptos Display" panose="020B0004020202020204" pitchFamily="34" charset="0"/>
                <a:ea typeface="Instrument Sans Medium" pitchFamily="34" charset="-122"/>
                <a:cs typeface="Instrument Sans Medium" pitchFamily="34" charset="-120"/>
              </a:rPr>
              <a:t>Retrieval-Augmented Generation (RAG) kết hợp khả năng tạo sinh của LLM với truy xuất thông tin từ nguồn dữ liệu bên ngoài. Điều này cho phép AI cập nhật kiến thức mới, cải thiện độ chính xác và giảm sai sót.</a:t>
            </a:r>
            <a:endParaRPr lang="en-US" sz="1600" dirty="0">
              <a:latin typeface="Aptos Display" panose="020B0004020202020204" pitchFamily="34" charset="0"/>
            </a:endParaRPr>
          </a:p>
        </p:txBody>
      </p:sp>
      <p:sp>
        <p:nvSpPr>
          <p:cNvPr id="5" name="Text 2"/>
          <p:cNvSpPr/>
          <p:nvPr/>
        </p:nvSpPr>
        <p:spPr>
          <a:xfrm>
            <a:off x="6210538" y="3078480"/>
            <a:ext cx="206812" cy="258604"/>
          </a:xfrm>
          <a:prstGeom prst="rect">
            <a:avLst/>
          </a:prstGeom>
          <a:noFill/>
          <a:ln/>
        </p:spPr>
        <p:txBody>
          <a:bodyPr wrap="none" lIns="0" tIns="0" rIns="0" bIns="0" rtlCol="0" anchor="t"/>
          <a:lstStyle/>
          <a:p>
            <a:pPr marL="0" indent="0" algn="l">
              <a:lnSpc>
                <a:spcPts val="2600"/>
              </a:lnSpc>
              <a:buNone/>
            </a:pPr>
            <a:r>
              <a:rPr lang="en-US" sz="1600" dirty="0">
                <a:solidFill>
                  <a:srgbClr val="1E3063"/>
                </a:solidFill>
                <a:latin typeface="Aptos Display" panose="020B0004020202020204" pitchFamily="34" charset="0"/>
                <a:ea typeface="Instrument Sans Light" pitchFamily="34" charset="-122"/>
                <a:cs typeface="Instrument Sans Light" pitchFamily="34" charset="-120"/>
              </a:rPr>
              <a:t>01</a:t>
            </a:r>
            <a:endParaRPr lang="en-US" sz="1600" dirty="0">
              <a:latin typeface="Aptos Display" panose="020B0004020202020204" pitchFamily="34" charset="0"/>
            </a:endParaRPr>
          </a:p>
        </p:txBody>
      </p:sp>
      <p:sp>
        <p:nvSpPr>
          <p:cNvPr id="6" name="Shape 3"/>
          <p:cNvSpPr/>
          <p:nvPr/>
        </p:nvSpPr>
        <p:spPr>
          <a:xfrm>
            <a:off x="6210538" y="3407212"/>
            <a:ext cx="3744397" cy="22860"/>
          </a:xfrm>
          <a:prstGeom prst="rect">
            <a:avLst/>
          </a:prstGeom>
          <a:solidFill>
            <a:srgbClr val="84C1FA"/>
          </a:solidFill>
          <a:ln/>
        </p:spPr>
        <p:txBody>
          <a:bodyPr/>
          <a:lstStyle/>
          <a:p>
            <a:endParaRPr lang="en-US">
              <a:latin typeface="Aptos Display" panose="020B0004020202020204" pitchFamily="34" charset="0"/>
            </a:endParaRPr>
          </a:p>
        </p:txBody>
      </p:sp>
      <p:sp>
        <p:nvSpPr>
          <p:cNvPr id="7" name="Text 4"/>
          <p:cNvSpPr/>
          <p:nvPr/>
        </p:nvSpPr>
        <p:spPr>
          <a:xfrm>
            <a:off x="6210538" y="3556278"/>
            <a:ext cx="2586276" cy="32325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Aptos Display" panose="020B0004020202020204" pitchFamily="34" charset="0"/>
                <a:ea typeface="Instrument Sans Semi Bold" pitchFamily="34" charset="-122"/>
                <a:cs typeface="Instrument Sans Semi Bold" pitchFamily="34" charset="-120"/>
              </a:rPr>
              <a:t>Truy Vấn</a:t>
            </a:r>
            <a:endParaRPr lang="en-US" sz="2000" dirty="0">
              <a:latin typeface="Aptos Display" panose="020B0004020202020204" pitchFamily="34" charset="0"/>
            </a:endParaRPr>
          </a:p>
        </p:txBody>
      </p:sp>
      <p:sp>
        <p:nvSpPr>
          <p:cNvPr id="8" name="Text 5"/>
          <p:cNvSpPr/>
          <p:nvPr/>
        </p:nvSpPr>
        <p:spPr>
          <a:xfrm>
            <a:off x="6210538" y="4003596"/>
            <a:ext cx="3744397" cy="330994"/>
          </a:xfrm>
          <a:prstGeom prst="rect">
            <a:avLst/>
          </a:prstGeom>
          <a:noFill/>
          <a:ln/>
        </p:spPr>
        <p:txBody>
          <a:bodyPr wrap="none" lIns="0" tIns="0" rIns="0" bIns="0" rtlCol="0" anchor="t"/>
          <a:lstStyle/>
          <a:p>
            <a:pPr marL="0" indent="0" algn="l">
              <a:lnSpc>
                <a:spcPts val="2600"/>
              </a:lnSpc>
              <a:buNone/>
            </a:pPr>
            <a:r>
              <a:rPr lang="en-US" sz="1600" dirty="0">
                <a:solidFill>
                  <a:srgbClr val="1E3063"/>
                </a:solidFill>
                <a:latin typeface="Aptos Display" panose="020B0004020202020204" pitchFamily="34" charset="0"/>
                <a:ea typeface="Instrument Sans Medium" pitchFamily="34" charset="-122"/>
                <a:cs typeface="Instrument Sans Medium" pitchFamily="34" charset="-120"/>
              </a:rPr>
              <a:t>Nhận câu hỏi từ người dùng</a:t>
            </a:r>
            <a:endParaRPr lang="en-US" sz="1600" dirty="0">
              <a:latin typeface="Aptos Display" panose="020B0004020202020204" pitchFamily="34" charset="0"/>
            </a:endParaRPr>
          </a:p>
        </p:txBody>
      </p:sp>
      <p:sp>
        <p:nvSpPr>
          <p:cNvPr id="9" name="Text 6"/>
          <p:cNvSpPr/>
          <p:nvPr/>
        </p:nvSpPr>
        <p:spPr>
          <a:xfrm>
            <a:off x="10161746" y="3078480"/>
            <a:ext cx="206812" cy="258604"/>
          </a:xfrm>
          <a:prstGeom prst="rect">
            <a:avLst/>
          </a:prstGeom>
          <a:noFill/>
          <a:ln/>
        </p:spPr>
        <p:txBody>
          <a:bodyPr wrap="none" lIns="0" tIns="0" rIns="0" bIns="0" rtlCol="0" anchor="t"/>
          <a:lstStyle/>
          <a:p>
            <a:pPr marL="0" indent="0" algn="l">
              <a:lnSpc>
                <a:spcPts val="2600"/>
              </a:lnSpc>
              <a:buNone/>
            </a:pPr>
            <a:r>
              <a:rPr lang="en-US" sz="1600" dirty="0">
                <a:solidFill>
                  <a:srgbClr val="1E3063"/>
                </a:solidFill>
                <a:latin typeface="Aptos Display" panose="020B0004020202020204" pitchFamily="34" charset="0"/>
                <a:ea typeface="Instrument Sans Light" pitchFamily="34" charset="-122"/>
                <a:cs typeface="Instrument Sans Light" pitchFamily="34" charset="-120"/>
              </a:rPr>
              <a:t>02</a:t>
            </a:r>
            <a:endParaRPr lang="en-US" sz="1600" dirty="0">
              <a:latin typeface="Aptos Display" panose="020B0004020202020204" pitchFamily="34" charset="0"/>
            </a:endParaRPr>
          </a:p>
        </p:txBody>
      </p:sp>
      <p:sp>
        <p:nvSpPr>
          <p:cNvPr id="10" name="Shape 7"/>
          <p:cNvSpPr/>
          <p:nvPr/>
        </p:nvSpPr>
        <p:spPr>
          <a:xfrm>
            <a:off x="10161746" y="3407212"/>
            <a:ext cx="3744516" cy="22860"/>
          </a:xfrm>
          <a:prstGeom prst="rect">
            <a:avLst/>
          </a:prstGeom>
          <a:solidFill>
            <a:srgbClr val="84C1FA"/>
          </a:solidFill>
          <a:ln/>
        </p:spPr>
        <p:txBody>
          <a:bodyPr/>
          <a:lstStyle/>
          <a:p>
            <a:endParaRPr lang="en-US">
              <a:latin typeface="Aptos Display" panose="020B0004020202020204" pitchFamily="34" charset="0"/>
            </a:endParaRPr>
          </a:p>
        </p:txBody>
      </p:sp>
      <p:sp>
        <p:nvSpPr>
          <p:cNvPr id="11" name="Text 8"/>
          <p:cNvSpPr/>
          <p:nvPr/>
        </p:nvSpPr>
        <p:spPr>
          <a:xfrm>
            <a:off x="10161746" y="3556278"/>
            <a:ext cx="2586276" cy="32325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Aptos Display" panose="020B0004020202020204" pitchFamily="34" charset="0"/>
                <a:ea typeface="Instrument Sans Semi Bold" pitchFamily="34" charset="-122"/>
                <a:cs typeface="Instrument Sans Semi Bold" pitchFamily="34" charset="-120"/>
              </a:rPr>
              <a:t>Tìm Kiếm</a:t>
            </a:r>
            <a:endParaRPr lang="en-US" sz="2000" dirty="0">
              <a:latin typeface="Aptos Display" panose="020B0004020202020204" pitchFamily="34" charset="0"/>
            </a:endParaRPr>
          </a:p>
        </p:txBody>
      </p:sp>
      <p:sp>
        <p:nvSpPr>
          <p:cNvPr id="12" name="Text 9"/>
          <p:cNvSpPr/>
          <p:nvPr/>
        </p:nvSpPr>
        <p:spPr>
          <a:xfrm>
            <a:off x="10161746" y="4003596"/>
            <a:ext cx="3744516" cy="661988"/>
          </a:xfrm>
          <a:prstGeom prst="rect">
            <a:avLst/>
          </a:prstGeom>
          <a:noFill/>
          <a:ln/>
        </p:spPr>
        <p:txBody>
          <a:bodyPr wrap="square" lIns="0" tIns="0" rIns="0" bIns="0" rtlCol="0" anchor="t"/>
          <a:lstStyle/>
          <a:p>
            <a:pPr marL="0" indent="0" algn="l">
              <a:lnSpc>
                <a:spcPts val="2600"/>
              </a:lnSpc>
              <a:buNone/>
            </a:pPr>
            <a:r>
              <a:rPr lang="en-US" sz="1600" dirty="0">
                <a:solidFill>
                  <a:srgbClr val="1E3063"/>
                </a:solidFill>
                <a:latin typeface="Aptos Display" panose="020B0004020202020204" pitchFamily="34" charset="0"/>
                <a:ea typeface="Instrument Sans Medium" pitchFamily="34" charset="-122"/>
                <a:cs typeface="Instrument Sans Medium" pitchFamily="34" charset="-120"/>
              </a:rPr>
              <a:t>Trích xuất tài liệu liên quan từ cơ sở dữ liệu</a:t>
            </a:r>
            <a:endParaRPr lang="en-US" sz="1600" dirty="0">
              <a:latin typeface="Aptos Display" panose="020B0004020202020204" pitchFamily="34" charset="0"/>
            </a:endParaRPr>
          </a:p>
        </p:txBody>
      </p:sp>
      <p:sp>
        <p:nvSpPr>
          <p:cNvPr id="13" name="Text 10"/>
          <p:cNvSpPr/>
          <p:nvPr/>
        </p:nvSpPr>
        <p:spPr>
          <a:xfrm>
            <a:off x="6210538" y="5027533"/>
            <a:ext cx="206812" cy="258604"/>
          </a:xfrm>
          <a:prstGeom prst="rect">
            <a:avLst/>
          </a:prstGeom>
          <a:noFill/>
          <a:ln/>
        </p:spPr>
        <p:txBody>
          <a:bodyPr wrap="none" lIns="0" tIns="0" rIns="0" bIns="0" rtlCol="0" anchor="t"/>
          <a:lstStyle/>
          <a:p>
            <a:pPr marL="0" indent="0" algn="l">
              <a:lnSpc>
                <a:spcPts val="2600"/>
              </a:lnSpc>
              <a:buNone/>
            </a:pPr>
            <a:r>
              <a:rPr lang="en-US" sz="1600" dirty="0">
                <a:solidFill>
                  <a:srgbClr val="1E3063"/>
                </a:solidFill>
                <a:latin typeface="Aptos Display" panose="020B0004020202020204" pitchFamily="34" charset="0"/>
                <a:ea typeface="Instrument Sans Light" pitchFamily="34" charset="-122"/>
                <a:cs typeface="Instrument Sans Light" pitchFamily="34" charset="-120"/>
              </a:rPr>
              <a:t>03</a:t>
            </a:r>
            <a:endParaRPr lang="en-US" sz="1600" dirty="0">
              <a:latin typeface="Aptos Display" panose="020B0004020202020204" pitchFamily="34" charset="0"/>
            </a:endParaRPr>
          </a:p>
        </p:txBody>
      </p:sp>
      <p:sp>
        <p:nvSpPr>
          <p:cNvPr id="14" name="Shape 11"/>
          <p:cNvSpPr/>
          <p:nvPr/>
        </p:nvSpPr>
        <p:spPr>
          <a:xfrm>
            <a:off x="6210538" y="5356265"/>
            <a:ext cx="7695724" cy="22860"/>
          </a:xfrm>
          <a:prstGeom prst="rect">
            <a:avLst/>
          </a:prstGeom>
          <a:solidFill>
            <a:srgbClr val="84C1FA"/>
          </a:solidFill>
          <a:ln/>
        </p:spPr>
        <p:txBody>
          <a:bodyPr/>
          <a:lstStyle/>
          <a:p>
            <a:endParaRPr lang="en-US">
              <a:latin typeface="Aptos Display" panose="020B0004020202020204" pitchFamily="34" charset="0"/>
            </a:endParaRPr>
          </a:p>
        </p:txBody>
      </p:sp>
      <p:sp>
        <p:nvSpPr>
          <p:cNvPr id="15" name="Text 12"/>
          <p:cNvSpPr/>
          <p:nvPr/>
        </p:nvSpPr>
        <p:spPr>
          <a:xfrm>
            <a:off x="6210538" y="5505331"/>
            <a:ext cx="2586276" cy="32325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Aptos Display" panose="020B0004020202020204" pitchFamily="34" charset="0"/>
                <a:ea typeface="Instrument Sans Semi Bold" pitchFamily="34" charset="-122"/>
                <a:cs typeface="Instrument Sans Semi Bold" pitchFamily="34" charset="-120"/>
              </a:rPr>
              <a:t>Sinh Câu Trả Lời</a:t>
            </a:r>
            <a:endParaRPr lang="en-US" sz="2000" dirty="0">
              <a:latin typeface="Aptos Display" panose="020B0004020202020204" pitchFamily="34" charset="0"/>
            </a:endParaRPr>
          </a:p>
        </p:txBody>
      </p:sp>
      <p:sp>
        <p:nvSpPr>
          <p:cNvPr id="16" name="Text 13"/>
          <p:cNvSpPr/>
          <p:nvPr/>
        </p:nvSpPr>
        <p:spPr>
          <a:xfrm>
            <a:off x="6210538" y="5952649"/>
            <a:ext cx="7695724" cy="330994"/>
          </a:xfrm>
          <a:prstGeom prst="rect">
            <a:avLst/>
          </a:prstGeom>
          <a:noFill/>
          <a:ln/>
        </p:spPr>
        <p:txBody>
          <a:bodyPr wrap="none" lIns="0" tIns="0" rIns="0" bIns="0" rtlCol="0" anchor="t"/>
          <a:lstStyle/>
          <a:p>
            <a:pPr marL="0" indent="0" algn="l">
              <a:lnSpc>
                <a:spcPts val="2600"/>
              </a:lnSpc>
              <a:buNone/>
            </a:pPr>
            <a:r>
              <a:rPr lang="en-US" sz="1600" dirty="0">
                <a:solidFill>
                  <a:srgbClr val="1E3063"/>
                </a:solidFill>
                <a:latin typeface="Aptos Display" panose="020B0004020202020204" pitchFamily="34" charset="0"/>
                <a:ea typeface="Instrument Sans Medium" pitchFamily="34" charset="-122"/>
                <a:cs typeface="Instrument Sans Medium" pitchFamily="34" charset="-120"/>
              </a:rPr>
              <a:t>LLM tạo phản hồi dựa trên dữ liệu được truy xuất</a:t>
            </a:r>
            <a:endParaRPr lang="en-US" sz="1600" dirty="0">
              <a:latin typeface="Aptos Display" panose="020B0004020202020204" pitchFamily="34" charset="0"/>
            </a:endParaRPr>
          </a:p>
        </p:txBody>
      </p:sp>
      <p:sp>
        <p:nvSpPr>
          <p:cNvPr id="17" name="Text 14"/>
          <p:cNvSpPr/>
          <p:nvPr/>
        </p:nvSpPr>
        <p:spPr>
          <a:xfrm>
            <a:off x="6210538" y="6671429"/>
            <a:ext cx="7695724" cy="661988"/>
          </a:xfrm>
          <a:prstGeom prst="rect">
            <a:avLst/>
          </a:prstGeom>
          <a:noFill/>
          <a:ln/>
        </p:spPr>
        <p:txBody>
          <a:bodyPr wrap="square" lIns="0" tIns="0" rIns="0" bIns="0" rtlCol="0" anchor="t"/>
          <a:lstStyle/>
          <a:p>
            <a:pPr marL="0" indent="0" algn="l">
              <a:lnSpc>
                <a:spcPts val="2600"/>
              </a:lnSpc>
              <a:buNone/>
            </a:pPr>
            <a:r>
              <a:rPr lang="en-US" sz="1600" b="1" dirty="0">
                <a:solidFill>
                  <a:srgbClr val="1E3063"/>
                </a:solidFill>
                <a:latin typeface="Aptos Display" panose="020B0004020202020204" pitchFamily="34" charset="0"/>
                <a:ea typeface="Instrument Sans Medium" pitchFamily="34" charset="-122"/>
                <a:cs typeface="Instrument Sans Medium" pitchFamily="34" charset="-120"/>
              </a:rPr>
              <a:t>Lợi ích:</a:t>
            </a:r>
            <a:r>
              <a:rPr lang="en-US" sz="1600" dirty="0">
                <a:solidFill>
                  <a:srgbClr val="1E3063"/>
                </a:solidFill>
                <a:latin typeface="Aptos Display" panose="020B0004020202020204" pitchFamily="34" charset="0"/>
                <a:ea typeface="Instrument Sans Medium" pitchFamily="34" charset="-122"/>
                <a:cs typeface="Instrument Sans Medium" pitchFamily="34" charset="-120"/>
              </a:rPr>
              <a:t> Giảm sai sót, tăng độ tin cậy, tiết kiệm chi phí đào tạo lại mô hình, luôn sử dụng thông tin cập nhật.</a:t>
            </a:r>
            <a:endParaRPr lang="en-US" sz="1600" dirty="0">
              <a:latin typeface="Aptos Display"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488400"/>
          </a:xfrm>
          <a:prstGeom prst="rect">
            <a:avLst/>
          </a:prstGeom>
        </p:spPr>
      </p:pic>
      <p:sp>
        <p:nvSpPr>
          <p:cNvPr id="3" name="Text 0"/>
          <p:cNvSpPr/>
          <p:nvPr/>
        </p:nvSpPr>
        <p:spPr>
          <a:xfrm>
            <a:off x="396835" y="1729383"/>
            <a:ext cx="4174569" cy="354330"/>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Aptos Display" panose="020B0004020202020204" pitchFamily="34" charset="0"/>
                <a:ea typeface="Instrument Sans Semi Bold" pitchFamily="34" charset="-122"/>
                <a:cs typeface="Instrument Sans Semi Bold" pitchFamily="34" charset="-120"/>
              </a:rPr>
              <a:t>Mối Liên Hệ Giữa Ba Công Nghệ</a:t>
            </a:r>
            <a:endParaRPr lang="en-US" sz="2200" dirty="0">
              <a:latin typeface="Aptos Display" panose="020B0004020202020204" pitchFamily="34" charset="0"/>
            </a:endParaRPr>
          </a:p>
        </p:txBody>
      </p:sp>
      <p:pic>
        <p:nvPicPr>
          <p:cNvPr id="28" name="Picture 27">
            <a:extLst>
              <a:ext uri="{FF2B5EF4-FFF2-40B4-BE49-F238E27FC236}">
                <a16:creationId xmlns:a16="http://schemas.microsoft.com/office/drawing/2014/main" id="{5BC07ADA-BBC8-359C-1AE5-5776FAD3E4B8}"/>
              </a:ext>
            </a:extLst>
          </p:cNvPr>
          <p:cNvPicPr>
            <a:picLocks noChangeAspect="1"/>
          </p:cNvPicPr>
          <p:nvPr/>
        </p:nvPicPr>
        <p:blipFill>
          <a:blip r:embed="rId4"/>
          <a:stretch>
            <a:fillRect/>
          </a:stretch>
        </p:blipFill>
        <p:spPr>
          <a:xfrm>
            <a:off x="1839558" y="2324696"/>
            <a:ext cx="10036940" cy="4429112"/>
          </a:xfrm>
          <a:prstGeom prst="rect">
            <a:avLst/>
          </a:prstGeom>
        </p:spPr>
      </p:pic>
      <p:sp>
        <p:nvSpPr>
          <p:cNvPr id="32" name="TextBox 31">
            <a:extLst>
              <a:ext uri="{FF2B5EF4-FFF2-40B4-BE49-F238E27FC236}">
                <a16:creationId xmlns:a16="http://schemas.microsoft.com/office/drawing/2014/main" id="{38E3C4BC-DDE5-639F-6638-13B375058D14}"/>
              </a:ext>
            </a:extLst>
          </p:cNvPr>
          <p:cNvSpPr txBox="1"/>
          <p:nvPr/>
        </p:nvSpPr>
        <p:spPr>
          <a:xfrm>
            <a:off x="467984" y="6756407"/>
            <a:ext cx="6390044" cy="1200329"/>
          </a:xfrm>
          <a:prstGeom prst="rect">
            <a:avLst/>
          </a:prstGeom>
          <a:noFill/>
        </p:spPr>
        <p:txBody>
          <a:bodyPr wrap="square">
            <a:spAutoFit/>
          </a:bodyPr>
          <a:lstStyle/>
          <a:p>
            <a:pPr marL="285750" indent="-285750">
              <a:buFont typeface="Wingdings" panose="05000000000000000000" pitchFamily="2" charset="2"/>
              <a:buChar char="Ø"/>
            </a:pPr>
            <a:r>
              <a:rPr lang="vi-VN" b="1" dirty="0">
                <a:solidFill>
                  <a:srgbClr val="091C53"/>
                </a:solidFill>
                <a:latin typeface="Aptos Display" panose="020B0004020202020204" pitchFamily="34" charset="0"/>
              </a:rPr>
              <a:t>Generative AI</a:t>
            </a:r>
          </a:p>
          <a:p>
            <a:pPr>
              <a:buNone/>
            </a:pPr>
            <a:r>
              <a:rPr lang="vi-VN" dirty="0">
                <a:solidFill>
                  <a:srgbClr val="091C53"/>
                </a:solidFill>
                <a:latin typeface="Aptos Display" panose="020B0004020202020204" pitchFamily="34" charset="0"/>
              </a:rPr>
              <a:t>Nền tảng chung dựa trên LLM để tạo nội dung đa dạng</a:t>
            </a:r>
          </a:p>
          <a:p>
            <a:pPr marL="285750" indent="-285750">
              <a:buFont typeface="Wingdings" panose="05000000000000000000" pitchFamily="2" charset="2"/>
              <a:buChar char="Ø"/>
            </a:pPr>
            <a:r>
              <a:rPr lang="vi-VN" b="1" dirty="0">
                <a:solidFill>
                  <a:srgbClr val="091C53"/>
                </a:solidFill>
                <a:latin typeface="Aptos Display" panose="020B0004020202020204" pitchFamily="34" charset="0"/>
              </a:rPr>
              <a:t>LLM là Nền Tảng</a:t>
            </a:r>
          </a:p>
          <a:p>
            <a:pPr>
              <a:buNone/>
            </a:pPr>
            <a:r>
              <a:rPr lang="vi-VN" dirty="0">
                <a:solidFill>
                  <a:srgbClr val="091C53"/>
                </a:solidFill>
                <a:latin typeface="Aptos Display" panose="020B0004020202020204" pitchFamily="34" charset="0"/>
              </a:rPr>
              <a:t>Cung cấp khả năng ngôn ngữ mạnh nhưng kiến thức tĩnh</a:t>
            </a:r>
          </a:p>
        </p:txBody>
      </p:sp>
      <p:sp>
        <p:nvSpPr>
          <p:cNvPr id="34" name="TextBox 33">
            <a:extLst>
              <a:ext uri="{FF2B5EF4-FFF2-40B4-BE49-F238E27FC236}">
                <a16:creationId xmlns:a16="http://schemas.microsoft.com/office/drawing/2014/main" id="{9765EC5D-D628-F75C-2451-47EF07AD12FE}"/>
              </a:ext>
            </a:extLst>
          </p:cNvPr>
          <p:cNvSpPr txBox="1"/>
          <p:nvPr/>
        </p:nvSpPr>
        <p:spPr>
          <a:xfrm>
            <a:off x="7315200" y="6753808"/>
            <a:ext cx="7315200" cy="1200329"/>
          </a:xfrm>
          <a:prstGeom prst="rect">
            <a:avLst/>
          </a:prstGeom>
          <a:noFill/>
        </p:spPr>
        <p:txBody>
          <a:bodyPr wrap="square">
            <a:spAutoFit/>
          </a:bodyPr>
          <a:lstStyle/>
          <a:p>
            <a:pPr marL="285750" indent="-285750">
              <a:buFont typeface="Wingdings" panose="05000000000000000000" pitchFamily="2" charset="2"/>
              <a:buChar char="Ø"/>
            </a:pPr>
            <a:r>
              <a:rPr lang="vi-VN" b="1" dirty="0">
                <a:solidFill>
                  <a:srgbClr val="091C53"/>
                </a:solidFill>
                <a:latin typeface="Aptos Display" panose="020B0004020202020204" pitchFamily="34" charset="0"/>
              </a:rPr>
              <a:t>RAG Bổ Sung</a:t>
            </a:r>
          </a:p>
          <a:p>
            <a:pPr>
              <a:buNone/>
            </a:pPr>
            <a:r>
              <a:rPr lang="vi-VN" dirty="0">
                <a:solidFill>
                  <a:srgbClr val="091C53"/>
                </a:solidFill>
                <a:latin typeface="Aptos Display" panose="020B0004020202020204" pitchFamily="34" charset="0"/>
              </a:rPr>
              <a:t>Thêm kiến thức động từ nguồn bên ngoài, vượt qua hạn chế</a:t>
            </a:r>
          </a:p>
          <a:p>
            <a:pPr marL="285750" indent="-285750">
              <a:buFont typeface="Wingdings" panose="05000000000000000000" pitchFamily="2" charset="2"/>
              <a:buChar char="Ø"/>
            </a:pPr>
            <a:r>
              <a:rPr lang="en-US" b="1" dirty="0">
                <a:solidFill>
                  <a:srgbClr val="091C53"/>
                </a:solidFill>
                <a:latin typeface="Aptos Display" panose="020B0004020202020204" pitchFamily="34" charset="0"/>
              </a:rPr>
              <a:t>VIAIBOT</a:t>
            </a:r>
            <a:endParaRPr lang="vi-VN" b="1" dirty="0">
              <a:solidFill>
                <a:srgbClr val="091C53"/>
              </a:solidFill>
              <a:latin typeface="Aptos Display" panose="020B0004020202020204" pitchFamily="34" charset="0"/>
            </a:endParaRPr>
          </a:p>
          <a:p>
            <a:pPr>
              <a:buNone/>
            </a:pPr>
            <a:r>
              <a:rPr lang="vi-VN" dirty="0">
                <a:solidFill>
                  <a:srgbClr val="091C53"/>
                </a:solidFill>
                <a:latin typeface="Aptos Display" panose="020B0004020202020204" pitchFamily="34" charset="0"/>
              </a:rPr>
              <a:t>Kết hợp ba công nghệ tạo AI tạo sinh hiệu quả, tin cậy, ứng dụng rộng rãi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436</Words>
  <Application>Microsoft Office PowerPoint</Application>
  <PresentationFormat>Custom</PresentationFormat>
  <Paragraphs>47</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 Display</vt:lpstr>
      <vt:lpstr>Wingdings</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Thanh-Giảng Phan</dc:creator>
  <cp:lastModifiedBy>Thanh-Giảng Phan</cp:lastModifiedBy>
  <cp:revision>2</cp:revision>
  <dcterms:created xsi:type="dcterms:W3CDTF">2025-10-22T01:23:39Z</dcterms:created>
  <dcterms:modified xsi:type="dcterms:W3CDTF">2025-10-22T01:32:15Z</dcterms:modified>
</cp:coreProperties>
</file>