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handoutMasterIdLst>
    <p:handoutMasterId r:id="rId24"/>
  </p:handoutMasterIdLst>
  <p:sldIdLst>
    <p:sldId id="296" r:id="rId5"/>
    <p:sldId id="297" r:id="rId6"/>
    <p:sldId id="285" r:id="rId7"/>
    <p:sldId id="261" r:id="rId8"/>
    <p:sldId id="298" r:id="rId9"/>
    <p:sldId id="299" r:id="rId10"/>
    <p:sldId id="263" r:id="rId11"/>
    <p:sldId id="300" r:id="rId12"/>
    <p:sldId id="265" r:id="rId13"/>
    <p:sldId id="262" r:id="rId14"/>
    <p:sldId id="301" r:id="rId15"/>
    <p:sldId id="302" r:id="rId16"/>
    <p:sldId id="303" r:id="rId17"/>
    <p:sldId id="304" r:id="rId18"/>
    <p:sldId id="305" r:id="rId19"/>
    <p:sldId id="306" r:id="rId20"/>
    <p:sldId id="280"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67A"/>
    <a:srgbClr val="0D1D51"/>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87" autoAdjust="0"/>
  </p:normalViewPr>
  <p:slideViewPr>
    <p:cSldViewPr snapToGrid="0" showGuides="1">
      <p:cViewPr varScale="1">
        <p:scale>
          <a:sx n="93" d="100"/>
          <a:sy n="93" d="100"/>
        </p:scale>
        <p:origin x="1188" y="9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10/23/2025</a:t>
            </a:fld>
            <a:endParaRPr lang="en-US"/>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10/23/2025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a:p>
        </p:txBody>
      </p:sp>
    </p:spTree>
    <p:extLst>
      <p:ext uri="{BB962C8B-B14F-4D97-AF65-F5344CB8AC3E}">
        <p14:creationId xmlns:p14="http://schemas.microsoft.com/office/powerpoint/2010/main" val="34421903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5.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5.sv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D93970-B13A-F96D-A4B1-3A1EE7484106}"/>
              </a:ext>
            </a:extLst>
          </p:cNvPr>
          <p:cNvPicPr>
            <a:picLocks noChangeAspect="1"/>
          </p:cNvPicPr>
          <p:nvPr userDrawn="1"/>
        </p:nvPicPr>
        <p:blipFill>
          <a:blip r:embed="rId2"/>
          <a:srcRect/>
          <a:stretch/>
        </p:blipFill>
        <p:spPr>
          <a:xfrm>
            <a:off x="1" y="0"/>
            <a:ext cx="12202379" cy="6857999"/>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502920"/>
            <a:ext cx="10954512" cy="3246120"/>
          </a:xfrm>
        </p:spPr>
        <p:txBody>
          <a:bodyPr anchor="b">
            <a:noAutofit/>
          </a:bodyPr>
          <a:lstStyle>
            <a:lvl1pPr algn="ctr">
              <a:defRPr sz="6600" b="1" i="0" cap="none"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12648" y="3758183"/>
            <a:ext cx="10954512" cy="1307592"/>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850392"/>
            <a:ext cx="3913632" cy="4800600"/>
          </a:xfrm>
        </p:spPr>
        <p:txBody>
          <a:bodyPr/>
          <a:lstStyle>
            <a:lvl1pPr>
              <a:defRPr>
                <a:solidFill>
                  <a:schemeClr val="accent2">
                    <a:lumMod val="25000"/>
                  </a:schemeClr>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358384" y="1965960"/>
            <a:ext cx="4050792" cy="2953512"/>
          </a:xfrm>
        </p:spPr>
        <p:txBody>
          <a:bodyPr anchor="ctr" anchorCtr="0"/>
          <a:lstStyle>
            <a:lvl1pPr>
              <a:defRPr cap="all" baseline="0">
                <a:solidFill>
                  <a:schemeClr val="accent2">
                    <a:lumMod val="25000"/>
                  </a:schemeClr>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
        <p:nvSpPr>
          <p:cNvPr id="7" name="Rounded Rectangle 4">
            <a:extLst>
              <a:ext uri="{FF2B5EF4-FFF2-40B4-BE49-F238E27FC236}">
                <a16:creationId xmlns:a16="http://schemas.microsoft.com/office/drawing/2014/main" id="{906EB944-76A9-6F98-104E-59CD34F5CF9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7">
            <a:extLst>
              <a:ext uri="{FF2B5EF4-FFF2-40B4-BE49-F238E27FC236}">
                <a16:creationId xmlns:a16="http://schemas.microsoft.com/office/drawing/2014/main" id="{898C8E3F-6992-0D8A-CCA1-3DD2C147AA8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4756"/>
          <a:stretch/>
        </p:blipFill>
        <p:spPr>
          <a:xfrm>
            <a:off x="8853067" y="1"/>
            <a:ext cx="1875091" cy="1605320"/>
          </a:xfrm>
          <a:prstGeom prst="rect">
            <a:avLst/>
          </a:prstGeom>
        </p:spPr>
      </p:pic>
      <p:pic>
        <p:nvPicPr>
          <p:cNvPr id="13" name="Picture 7">
            <a:extLst>
              <a:ext uri="{FF2B5EF4-FFF2-40B4-BE49-F238E27FC236}">
                <a16:creationId xmlns:a16="http://schemas.microsoft.com/office/drawing/2014/main" id="{4417AC45-4CB7-72E8-3723-B1A3D81FB6E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13775" y="5533690"/>
            <a:ext cx="493392" cy="495528"/>
          </a:xfrm>
          <a:prstGeom prst="rect">
            <a:avLst/>
          </a:prstGeom>
        </p:spPr>
      </p:pic>
      <p:pic>
        <p:nvPicPr>
          <p:cNvPr id="15" name="Graphic 14">
            <a:extLst>
              <a:ext uri="{FF2B5EF4-FFF2-40B4-BE49-F238E27FC236}">
                <a16:creationId xmlns:a16="http://schemas.microsoft.com/office/drawing/2014/main" id="{AE5941EF-B160-313A-DA99-73C86EDC4C1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46794"/>
          <a:stretch/>
        </p:blipFill>
        <p:spPr>
          <a:xfrm>
            <a:off x="10316909" y="2723673"/>
            <a:ext cx="1875091" cy="3600981"/>
          </a:xfrm>
          <a:prstGeom prst="rect">
            <a:avLst/>
          </a:prstGeom>
        </p:spPr>
      </p:pic>
      <p:pic>
        <p:nvPicPr>
          <p:cNvPr id="17" name="Graphic 16">
            <a:extLst>
              <a:ext uri="{FF2B5EF4-FFF2-40B4-BE49-F238E27FC236}">
                <a16:creationId xmlns:a16="http://schemas.microsoft.com/office/drawing/2014/main" id="{EEC16221-5852-F1A3-24D1-8EF5E907173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1791"/>
          <a:stretch/>
        </p:blipFill>
        <p:spPr>
          <a:xfrm>
            <a:off x="3497179" y="6324654"/>
            <a:ext cx="910220" cy="541368"/>
          </a:xfrm>
          <a:prstGeom prst="rect">
            <a:avLst/>
          </a:prstGeom>
        </p:spPr>
      </p:pic>
      <p:pic>
        <p:nvPicPr>
          <p:cNvPr id="19" name="Graphic 18">
            <a:extLst>
              <a:ext uri="{FF2B5EF4-FFF2-40B4-BE49-F238E27FC236}">
                <a16:creationId xmlns:a16="http://schemas.microsoft.com/office/drawing/2014/main" id="{5D8B34C3-E35E-0B4E-1F8E-59C449A3C8DD}"/>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31904"/>
          <a:stretch/>
        </p:blipFill>
        <p:spPr>
          <a:xfrm>
            <a:off x="1601212" y="0"/>
            <a:ext cx="1032928" cy="718708"/>
          </a:xfrm>
          <a:prstGeom prst="rect">
            <a:avLst/>
          </a:prstGeom>
        </p:spPr>
      </p:pic>
    </p:spTree>
    <p:extLst>
      <p:ext uri="{BB962C8B-B14F-4D97-AF65-F5344CB8AC3E}">
        <p14:creationId xmlns:p14="http://schemas.microsoft.com/office/powerpoint/2010/main" val="36578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FEFCE-5DDA-D353-F1BF-36752F5F079A}"/>
              </a:ext>
            </a:extLst>
          </p:cNvPr>
          <p:cNvPicPr>
            <a:picLocks noChangeAspect="1"/>
          </p:cNvPicPr>
          <p:nvPr userDrawn="1"/>
        </p:nvPicPr>
        <p:blipFill>
          <a:blip r:embed="rId2"/>
          <a:srcRect/>
          <a:stretch/>
        </p:blipFill>
        <p:spPr>
          <a:xfrm>
            <a:off x="0" y="2917"/>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877824" y="1325880"/>
            <a:ext cx="10460736" cy="2286000"/>
          </a:xfrm>
        </p:spPr>
        <p:txBody>
          <a:bodyPr anchor="b">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877824" y="3749040"/>
            <a:ext cx="10460736" cy="2286000"/>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150272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D721A955-CA2D-A65D-6E60-DAAAA4ACFA3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1050"/>
          <a:stretch/>
        </p:blipFill>
        <p:spPr>
          <a:xfrm>
            <a:off x="0" y="2887579"/>
            <a:ext cx="2432421" cy="3604662"/>
          </a:xfrm>
          <a:prstGeom prst="rect">
            <a:avLst/>
          </a:prstGeom>
        </p:spPr>
      </p:pic>
      <p:pic>
        <p:nvPicPr>
          <p:cNvPr id="9" name="Graphic 8">
            <a:extLst>
              <a:ext uri="{FF2B5EF4-FFF2-40B4-BE49-F238E27FC236}">
                <a16:creationId xmlns:a16="http://schemas.microsoft.com/office/drawing/2014/main" id="{AB70155A-604C-AD00-BE69-4505C75CE01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5874" b="-1"/>
          <a:stretch/>
        </p:blipFill>
        <p:spPr>
          <a:xfrm rot="5400000">
            <a:off x="11281284" y="2493882"/>
            <a:ext cx="1032928" cy="887899"/>
          </a:xfrm>
          <a:prstGeom prst="rect">
            <a:avLst/>
          </a:prstGeom>
        </p:spPr>
      </p:pic>
      <p:pic>
        <p:nvPicPr>
          <p:cNvPr id="10" name="Graphic 9">
            <a:extLst>
              <a:ext uri="{FF2B5EF4-FFF2-40B4-BE49-F238E27FC236}">
                <a16:creationId xmlns:a16="http://schemas.microsoft.com/office/drawing/2014/main" id="{F74D1084-EF5E-D016-13E0-1840BDFFD0AE}"/>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b="-880"/>
          <a:stretch/>
        </p:blipFill>
        <p:spPr>
          <a:xfrm>
            <a:off x="9897978" y="5987153"/>
            <a:ext cx="490012" cy="505088"/>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88903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1B9A11-4222-BB4A-66D3-D37C79AC57C1}"/>
              </a:ext>
            </a:extLst>
          </p:cNvPr>
          <p:cNvPicPr>
            <a:picLocks noChangeAspect="1"/>
          </p:cNvPicPr>
          <p:nvPr userDrawn="1"/>
        </p:nvPicPr>
        <p:blipFill rotWithShape="1">
          <a:blip r:embed="rId2"/>
          <a:srcRect l="-1" r="21" b="21"/>
          <a:stretch/>
        </p:blipFill>
        <p:spPr>
          <a:xfrm>
            <a:off x="-2595" y="1459"/>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2962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2C86F9-080E-93F7-C7B1-F5BEAD84E36E}"/>
              </a:ext>
            </a:extLst>
          </p:cNvPr>
          <p:cNvSpPr>
            <a:spLocks noGrp="1"/>
          </p:cNvSpPr>
          <p:nvPr>
            <p:ph type="title"/>
          </p:nvPr>
        </p:nvSpPr>
        <p:spPr>
          <a:xfrm>
            <a:off x="1078992" y="365760"/>
            <a:ext cx="105064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097280" y="2432304"/>
            <a:ext cx="3108960" cy="3412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36592" y="1920240"/>
            <a:ext cx="6620256"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
        <p:nvSpPr>
          <p:cNvPr id="12" name="Rounded Rectangle 11">
            <a:extLst>
              <a:ext uri="{FF2B5EF4-FFF2-40B4-BE49-F238E27FC236}">
                <a16:creationId xmlns:a16="http://schemas.microsoft.com/office/drawing/2014/main" id="{7FF98F94-8801-13BE-8EB4-01921AC196C8}"/>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B7BF5718-9534-FD92-79D7-ECC66603E70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2387"/>
          <a:stretch/>
        </p:blipFill>
        <p:spPr>
          <a:xfrm rot="5400000">
            <a:off x="1778676" y="5204330"/>
            <a:ext cx="907513" cy="2465321"/>
          </a:xfrm>
          <a:prstGeom prst="rect">
            <a:avLst/>
          </a:prstGeom>
        </p:spPr>
      </p:pic>
      <p:pic>
        <p:nvPicPr>
          <p:cNvPr id="9" name="Graphic 8">
            <a:extLst>
              <a:ext uri="{FF2B5EF4-FFF2-40B4-BE49-F238E27FC236}">
                <a16:creationId xmlns:a16="http://schemas.microsoft.com/office/drawing/2014/main" id="{4FF40650-9AD0-96F8-F702-185D1729AF8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93558" y="5429608"/>
            <a:ext cx="406214" cy="415066"/>
          </a:xfrm>
          <a:prstGeom prst="rect">
            <a:avLst/>
          </a:prstGeom>
        </p:spPr>
      </p:pic>
      <p:pic>
        <p:nvPicPr>
          <p:cNvPr id="10" name="Graphic 9">
            <a:extLst>
              <a:ext uri="{FF2B5EF4-FFF2-40B4-BE49-F238E27FC236}">
                <a16:creationId xmlns:a16="http://schemas.microsoft.com/office/drawing/2014/main" id="{83AC8518-2F0B-6FC0-0C0E-6CE9D00EAC71}"/>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4860" b="-1"/>
          <a:stretch/>
        </p:blipFill>
        <p:spPr>
          <a:xfrm>
            <a:off x="10214191" y="365126"/>
            <a:ext cx="1032928" cy="1106730"/>
          </a:xfrm>
          <a:prstGeom prst="rect">
            <a:avLst/>
          </a:prstGeom>
        </p:spPr>
      </p:pic>
    </p:spTree>
    <p:extLst>
      <p:ext uri="{BB962C8B-B14F-4D97-AF65-F5344CB8AC3E}">
        <p14:creationId xmlns:p14="http://schemas.microsoft.com/office/powerpoint/2010/main" val="3196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B4AF60-AC65-3E7A-4A5D-EBF1A7030D9B}"/>
              </a:ext>
            </a:extLst>
          </p:cNvPr>
          <p:cNvPicPr>
            <a:picLocks noChangeAspect="1"/>
          </p:cNvPicPr>
          <p:nvPr userDrawn="1"/>
        </p:nvPicPr>
        <p:blipFill rotWithShape="1">
          <a:blip r:embed="rId2"/>
          <a:srcRect l="3063" b="3063"/>
          <a:stretch/>
        </p:blipFill>
        <p:spPr>
          <a:xfrm>
            <a:off x="1" y="2917"/>
            <a:ext cx="12197189" cy="6855082"/>
          </a:xfrm>
          <a:prstGeom prst="rect">
            <a:avLst/>
          </a:prstGeom>
        </p:spPr>
      </p:pic>
      <p:sp>
        <p:nvSpPr>
          <p:cNvPr id="12" name="Rounded Rectangle 4">
            <a:extLst>
              <a:ext uri="{FF2B5EF4-FFF2-40B4-BE49-F238E27FC236}">
                <a16:creationId xmlns:a16="http://schemas.microsoft.com/office/drawing/2014/main" id="{95671103-2960-81E2-9A76-0E7FDE6B3E55}"/>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276856"/>
            <a:ext cx="6327648" cy="3090672"/>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70126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02">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86060D16-E6F6-EA0E-E58E-526234AB656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0E0958AA-6F1A-C4A2-FB66-1A6F7F8834B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5" b="-1"/>
          <a:stretch/>
        </p:blipFill>
        <p:spPr>
          <a:xfrm>
            <a:off x="569419" y="4426479"/>
            <a:ext cx="1472805" cy="1596616"/>
          </a:xfrm>
          <a:prstGeom prst="rect">
            <a:avLst/>
          </a:prstGeom>
        </p:spPr>
      </p:pic>
      <p:pic>
        <p:nvPicPr>
          <p:cNvPr id="9" name="Graphic 8">
            <a:extLst>
              <a:ext uri="{FF2B5EF4-FFF2-40B4-BE49-F238E27FC236}">
                <a16:creationId xmlns:a16="http://schemas.microsoft.com/office/drawing/2014/main" id="{3DEADFA2-398E-9388-8295-063D31FB38E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5" b="-1"/>
          <a:stretch/>
        </p:blipFill>
        <p:spPr>
          <a:xfrm rot="3765410" flipV="1">
            <a:off x="1448505" y="4094575"/>
            <a:ext cx="862484" cy="934988"/>
          </a:xfrm>
          <a:prstGeom prst="rect">
            <a:avLst/>
          </a:prstGeom>
        </p:spPr>
      </p:pic>
      <p:pic>
        <p:nvPicPr>
          <p:cNvPr id="10" name="Picture 7">
            <a:extLst>
              <a:ext uri="{FF2B5EF4-FFF2-40B4-BE49-F238E27FC236}">
                <a16:creationId xmlns:a16="http://schemas.microsoft.com/office/drawing/2014/main" id="{D09A7588-8EFD-A0C5-4235-45B7D657ECF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5453"/>
          <a:stretch/>
        </p:blipFill>
        <p:spPr>
          <a:xfrm>
            <a:off x="9469547" y="5719093"/>
            <a:ext cx="1756858" cy="1138907"/>
          </a:xfrm>
          <a:prstGeom prst="rect">
            <a:avLst/>
          </a:prstGeom>
        </p:spPr>
      </p:pic>
      <p:pic>
        <p:nvPicPr>
          <p:cNvPr id="13" name="Graphic 12">
            <a:extLst>
              <a:ext uri="{FF2B5EF4-FFF2-40B4-BE49-F238E27FC236}">
                <a16:creationId xmlns:a16="http://schemas.microsoft.com/office/drawing/2014/main" id="{EF04D7D6-513C-D18A-AF21-D10F0E5D3B8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1" r="-750"/>
          <a:stretch/>
        </p:blipFill>
        <p:spPr>
          <a:xfrm>
            <a:off x="8844546" y="50582"/>
            <a:ext cx="1307037" cy="1325563"/>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7671816"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49972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2"/>
        </a:solidFill>
        <a:effectLst/>
      </p:bgPr>
    </p:bg>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30CE72F6-1D9D-E61E-F1EE-2861FDF7654A}"/>
              </a:ext>
            </a:extLst>
          </p:cNvPr>
          <p:cNvSpPr>
            <a:spLocks noGrp="1"/>
          </p:cNvSpPr>
          <p:nvPr>
            <p:ph idx="1"/>
          </p:nvPr>
        </p:nvSpPr>
        <p:spPr>
          <a:xfrm>
            <a:off x="1170432" y="2459736"/>
            <a:ext cx="2843784" cy="309067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4233672" y="2523744"/>
            <a:ext cx="6693408" cy="327355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549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4">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1207008" y="2523744"/>
            <a:ext cx="9720072" cy="325526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848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0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51A8B-A15C-2A94-1E48-F9615101DF48}"/>
              </a:ext>
            </a:extLst>
          </p:cNvPr>
          <p:cNvPicPr>
            <a:picLocks noChangeAspect="1"/>
          </p:cNvPicPr>
          <p:nvPr userDrawn="1"/>
        </p:nvPicPr>
        <p:blipFill rotWithShape="1">
          <a:blip r:embed="rId2"/>
          <a:srcRect l="8991" t="11245" r="3785" b="1531"/>
          <a:stretch/>
        </p:blipFill>
        <p:spPr>
          <a:xfrm>
            <a:off x="0" y="2917"/>
            <a:ext cx="12197192" cy="6855083"/>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09949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04">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697808D-10E0-D8A5-5D07-E176EBB8F2BB}"/>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7">
            <a:extLst>
              <a:ext uri="{FF2B5EF4-FFF2-40B4-BE49-F238E27FC236}">
                <a16:creationId xmlns:a16="http://schemas.microsoft.com/office/drawing/2014/main" id="{0234D012-F86E-04CE-78C8-2C5A6613028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004" r="-148"/>
          <a:stretch/>
        </p:blipFill>
        <p:spPr>
          <a:xfrm rot="5400000">
            <a:off x="6378170" y="40082"/>
            <a:ext cx="1579705" cy="1600089"/>
          </a:xfrm>
          <a:prstGeom prst="rect">
            <a:avLst/>
          </a:prstGeom>
        </p:spPr>
      </p:pic>
      <p:pic>
        <p:nvPicPr>
          <p:cNvPr id="15" name="Picture 7">
            <a:extLst>
              <a:ext uri="{FF2B5EF4-FFF2-40B4-BE49-F238E27FC236}">
                <a16:creationId xmlns:a16="http://schemas.microsoft.com/office/drawing/2014/main" id="{0BC42061-F838-920E-632E-10EDE7E5539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239" r="25335" b="-1"/>
          <a:stretch/>
        </p:blipFill>
        <p:spPr>
          <a:xfrm rot="16200000">
            <a:off x="6298833" y="-161472"/>
            <a:ext cx="752715" cy="1075657"/>
          </a:xfrm>
          <a:prstGeom prst="rect">
            <a:avLst/>
          </a:prstGeom>
        </p:spPr>
      </p:pic>
      <p:pic>
        <p:nvPicPr>
          <p:cNvPr id="16" name="Graphic 15">
            <a:extLst>
              <a:ext uri="{FF2B5EF4-FFF2-40B4-BE49-F238E27FC236}">
                <a16:creationId xmlns:a16="http://schemas.microsoft.com/office/drawing/2014/main" id="{58BEE67F-530E-E41D-FD19-2615180DC3F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15931"/>
          <a:stretch/>
        </p:blipFill>
        <p:spPr>
          <a:xfrm>
            <a:off x="10439102" y="4145165"/>
            <a:ext cx="1780703" cy="2164311"/>
          </a:xfrm>
          <a:prstGeom prst="rect">
            <a:avLst/>
          </a:prstGeom>
        </p:spPr>
      </p:pic>
      <p:pic>
        <p:nvPicPr>
          <p:cNvPr id="17" name="Graphic 16">
            <a:extLst>
              <a:ext uri="{FF2B5EF4-FFF2-40B4-BE49-F238E27FC236}">
                <a16:creationId xmlns:a16="http://schemas.microsoft.com/office/drawing/2014/main" id="{82CFCA46-5F5A-867F-B19C-4F9ED5BA15A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46794"/>
          <a:stretch/>
        </p:blipFill>
        <p:spPr>
          <a:xfrm rot="10800000">
            <a:off x="-27806" y="2452933"/>
            <a:ext cx="1370742" cy="2632414"/>
          </a:xfrm>
          <a:prstGeom prst="rect">
            <a:avLst/>
          </a:prstGeom>
        </p:spPr>
      </p:pic>
      <p:pic>
        <p:nvPicPr>
          <p:cNvPr id="18" name="Graphic 17">
            <a:extLst>
              <a:ext uri="{FF2B5EF4-FFF2-40B4-BE49-F238E27FC236}">
                <a16:creationId xmlns:a16="http://schemas.microsoft.com/office/drawing/2014/main" id="{11E8F80C-ACB2-552E-4433-1A8A2708F18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1" b="-9728"/>
          <a:stretch/>
        </p:blipFill>
        <p:spPr>
          <a:xfrm rot="18286209">
            <a:off x="887827" y="4958926"/>
            <a:ext cx="910220" cy="1020507"/>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8293608" y="2441447"/>
            <a:ext cx="3063240" cy="3575303"/>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343850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FCA6-7ECE-9BFB-9389-6DB74C862850}"/>
              </a:ext>
            </a:extLst>
          </p:cNvPr>
          <p:cNvPicPr>
            <a:picLocks noChangeAspect="1"/>
          </p:cNvPicPr>
          <p:nvPr userDrawn="1"/>
        </p:nvPicPr>
        <p:blipFill>
          <a:blip r:embed="rId2"/>
          <a:srcRect l="21" r="21"/>
          <a:stretch/>
        </p:blipFill>
        <p:spPr>
          <a:xfrm>
            <a:off x="-5192" y="-1"/>
            <a:ext cx="12197192" cy="6858001"/>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2960835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EF7BD-FE81-4B20-8DC5-0B3EB736F9F8}"/>
              </a:ext>
            </a:extLst>
          </p:cNvPr>
          <p:cNvSpPr>
            <a:spLocks noGrp="1"/>
          </p:cNvSpPr>
          <p:nvPr>
            <p:ph type="ctrTitle"/>
          </p:nvPr>
        </p:nvSpPr>
        <p:spPr>
          <a:xfrm>
            <a:off x="612648" y="502920"/>
            <a:ext cx="10954512" cy="3246120"/>
          </a:xfrm>
        </p:spPr>
        <p:txBody>
          <a:bodyPr anchor="b"/>
          <a:lstStyle/>
          <a:p>
            <a:r>
              <a:rPr lang="en-US"/>
              <a:t>TẬP HUẤN SỬ DỤNG</a:t>
            </a:r>
            <a:br>
              <a:rPr lang="en-US"/>
            </a:br>
            <a:r>
              <a:rPr lang="en-US"/>
              <a:t>TRỢ LÝ ẢO VIAIBOT</a:t>
            </a:r>
          </a:p>
        </p:txBody>
      </p:sp>
      <p:sp>
        <p:nvSpPr>
          <p:cNvPr id="3" name="Subtitle 2">
            <a:extLst>
              <a:ext uri="{FF2B5EF4-FFF2-40B4-BE49-F238E27FC236}">
                <a16:creationId xmlns:a16="http://schemas.microsoft.com/office/drawing/2014/main" id="{1AFF0EFE-C50F-44EB-8978-B97795477C9E}"/>
              </a:ext>
            </a:extLst>
          </p:cNvPr>
          <p:cNvSpPr>
            <a:spLocks noGrp="1"/>
          </p:cNvSpPr>
          <p:nvPr>
            <p:ph type="subTitle" idx="1"/>
          </p:nvPr>
        </p:nvSpPr>
        <p:spPr>
          <a:xfrm>
            <a:off x="612648" y="3758183"/>
            <a:ext cx="10954512" cy="1307592"/>
          </a:xfrm>
        </p:spPr>
        <p:txBody>
          <a:bodyPr vert="horz" lIns="91440" tIns="45720" rIns="91440" bIns="45720" rtlCol="0" anchor="t">
            <a:noAutofit/>
          </a:bodyPr>
          <a:lstStyle/>
          <a:p>
            <a:r>
              <a:rPr lang="en-US"/>
              <a:t>VNPT VĨNH LONG</a:t>
            </a:r>
          </a:p>
        </p:txBody>
      </p:sp>
    </p:spTree>
    <p:extLst>
      <p:ext uri="{BB962C8B-B14F-4D97-AF65-F5344CB8AC3E}">
        <p14:creationId xmlns:p14="http://schemas.microsoft.com/office/powerpoint/2010/main" val="12826331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1078992" y="850392"/>
            <a:ext cx="3913632" cy="4800600"/>
          </a:xfrm>
          <a:noFill/>
        </p:spPr>
        <p:txBody>
          <a:bodyPr anchor="ctr">
            <a:noAutofit/>
          </a:bodyPr>
          <a:lstStyle/>
          <a:p>
            <a:r>
              <a:rPr lang="en-US"/>
              <a:t>NỘI DUNG</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5358384" y="1965960"/>
            <a:ext cx="4050792" cy="2953512"/>
          </a:xfrm>
          <a:noFill/>
        </p:spPr>
        <p:txBody>
          <a:bodyPr>
            <a:noAutofit/>
          </a:bodyPr>
          <a:lstStyle/>
          <a:p>
            <a:pPr marL="457200" indent="-457200">
              <a:buAutoNum type="arabicPeriod"/>
            </a:pPr>
            <a:r>
              <a:rPr lang="en-US"/>
              <a:t>GIỚI THIỆU Generative AI (GENAI), LLM, RAG</a:t>
            </a:r>
          </a:p>
          <a:p>
            <a:pPr marL="457200" indent="-457200">
              <a:buAutoNum type="arabicPeriod"/>
            </a:pPr>
            <a:r>
              <a:rPr lang="en-US"/>
              <a:t>GIỚI THIỆU TỔNG QUAN VIAIBOT</a:t>
            </a:r>
          </a:p>
          <a:p>
            <a:pPr marL="457200" indent="-457200">
              <a:buAutoNum type="arabicPeriod"/>
            </a:pPr>
            <a:r>
              <a:rPr lang="en-US"/>
              <a:t>CÁC WORKFLOW SỬ DỤNG</a:t>
            </a:r>
          </a:p>
          <a:p>
            <a:pPr marL="457200" indent="-457200">
              <a:buAutoNum type="arabicPeriod"/>
            </a:pPr>
            <a:endParaRPr lang="en-US"/>
          </a:p>
        </p:txBody>
      </p:sp>
      <p:sp>
        <p:nvSpPr>
          <p:cNvPr id="9" name="Slide Number Placeholder 8">
            <a:extLst>
              <a:ext uri="{FF2B5EF4-FFF2-40B4-BE49-F238E27FC236}">
                <a16:creationId xmlns:a16="http://schemas.microsoft.com/office/drawing/2014/main" id="{E6AA7FF5-11CA-8F71-5951-B1099396287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2</a:t>
            </a:fld>
            <a:endParaRPr lang="en-US"/>
          </a:p>
        </p:txBody>
      </p:sp>
    </p:spTree>
    <p:extLst>
      <p:ext uri="{BB962C8B-B14F-4D97-AF65-F5344CB8AC3E}">
        <p14:creationId xmlns:p14="http://schemas.microsoft.com/office/powerpoint/2010/main" val="30185073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515938" y="27432"/>
            <a:ext cx="11142662" cy="3566160"/>
          </a:xfrm>
          <a:noFill/>
        </p:spPr>
        <p:txBody>
          <a:bodyPr>
            <a:noAutofit/>
          </a:bodyPr>
          <a:lstStyle/>
          <a:p>
            <a:pPr algn="r"/>
            <a:r>
              <a:rPr lang="en-US" sz="4000"/>
              <a:t>1. </a:t>
            </a:r>
            <a:r>
              <a:rPr lang="en-US" sz="4000" err="1"/>
              <a:t>Giới</a:t>
            </a:r>
            <a:r>
              <a:rPr lang="en-US" sz="4000"/>
              <a:t> </a:t>
            </a:r>
            <a:r>
              <a:rPr lang="en-US" sz="4000" err="1"/>
              <a:t>thiệu</a:t>
            </a:r>
            <a:r>
              <a:rPr lang="en-US" sz="4000"/>
              <a:t> Generative AI (Gen AI), </a:t>
            </a:r>
            <a:br>
              <a:rPr lang="en-US" sz="4000"/>
            </a:br>
            <a:r>
              <a:rPr lang="en-US" sz="4000"/>
              <a:t>Large Language Model (LLM), </a:t>
            </a:r>
            <a:br>
              <a:rPr lang="en-US" sz="4000"/>
            </a:br>
            <a:r>
              <a:rPr lang="en-US" sz="4000"/>
              <a:t>Retrieval-Augmented Generation (RAG) </a:t>
            </a:r>
          </a:p>
        </p:txBody>
      </p:sp>
    </p:spTree>
    <p:extLst>
      <p:ext uri="{BB962C8B-B14F-4D97-AF65-F5344CB8AC3E}">
        <p14:creationId xmlns:p14="http://schemas.microsoft.com/office/powerpoint/2010/main" val="13717375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1078992" y="365760"/>
            <a:ext cx="10277856" cy="1655064"/>
          </a:xfrm>
          <a:noFill/>
        </p:spPr>
        <p:txBody>
          <a:bodyPr anchor="b">
            <a:noAutofit/>
          </a:bodyPr>
          <a:lstStyle/>
          <a:p>
            <a:r>
              <a:rPr lang="en-US"/>
              <a:t>Generative AI (Gen AI) </a:t>
            </a:r>
            <a:r>
              <a:rPr lang="en-US" err="1"/>
              <a:t>là</a:t>
            </a:r>
            <a:r>
              <a:rPr lang="en-US"/>
              <a:t> </a:t>
            </a:r>
            <a:r>
              <a:rPr lang="en-US" err="1"/>
              <a:t>gì</a:t>
            </a:r>
            <a:r>
              <a:rPr lang="en-US"/>
              <a:t>?</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3575304" y="2313432"/>
            <a:ext cx="6327648" cy="3218688"/>
          </a:xfrm>
          <a:noFill/>
        </p:spPr>
        <p:txBody>
          <a:bodyPr>
            <a:noAutofit/>
          </a:bodyPr>
          <a:lstStyle/>
          <a:p>
            <a:r>
              <a:rPr lang="vi-VN" b="1"/>
              <a:t>GenAI (Generative AI - Trí tuệ nhân tạo tạo sinh)</a:t>
            </a:r>
          </a:p>
          <a:p>
            <a:r>
              <a:rPr lang="vi-VN"/>
              <a:t>Đây là một lĩnh vực của trí tuệ nhân tạo, tập trung vào việc </a:t>
            </a:r>
            <a:r>
              <a:rPr lang="vi-VN" b="1"/>
              <a:t>tạo ra nội dung mới</a:t>
            </a:r>
            <a:r>
              <a:rPr lang="vi-VN"/>
              <a:t> mà không chỉ đơn thuần là phân tích hay xử lý dữ liệu có sẵn. GenAI có thể tạo ra văn bản, hình ảnh, mã code, âm thanh, video... bằng cách học các mẫu (patterns) từ một lượng lớn dữ liệu huấn luyện.</a:t>
            </a:r>
          </a:p>
        </p:txBody>
      </p:sp>
      <p:sp>
        <p:nvSpPr>
          <p:cNvPr id="10" name="Slide Number Placeholder 9">
            <a:extLst>
              <a:ext uri="{FF2B5EF4-FFF2-40B4-BE49-F238E27FC236}">
                <a16:creationId xmlns:a16="http://schemas.microsoft.com/office/drawing/2014/main" id="{FD7B9109-9E17-1A7A-3A9A-0F1C07BF36A3}"/>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4</a:t>
            </a:fld>
            <a:endParaRPr lang="en-US"/>
          </a:p>
        </p:txBody>
      </p:sp>
    </p:spTree>
    <p:extLst>
      <p:ext uri="{BB962C8B-B14F-4D97-AF65-F5344CB8AC3E}">
        <p14:creationId xmlns:p14="http://schemas.microsoft.com/office/powerpoint/2010/main" val="36666746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a:extLst>
            <a:ext uri="{FF2B5EF4-FFF2-40B4-BE49-F238E27FC236}">
              <a16:creationId xmlns:a16="http://schemas.microsoft.com/office/drawing/2014/main" id="{E59A59F3-72D7-0906-6AB6-55940D6C6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FF44C-629B-348E-57C5-34DADC9D0251}"/>
              </a:ext>
            </a:extLst>
          </p:cNvPr>
          <p:cNvSpPr>
            <a:spLocks noGrp="1"/>
          </p:cNvSpPr>
          <p:nvPr>
            <p:ph type="title"/>
          </p:nvPr>
        </p:nvSpPr>
        <p:spPr>
          <a:xfrm>
            <a:off x="1078992" y="365760"/>
            <a:ext cx="10277856" cy="1655064"/>
          </a:xfrm>
          <a:noFill/>
        </p:spPr>
        <p:txBody>
          <a:bodyPr anchor="b">
            <a:noAutofit/>
          </a:bodyPr>
          <a:lstStyle/>
          <a:p>
            <a:r>
              <a:rPr lang="en-US"/>
              <a:t>Large Language Model (LLM)</a:t>
            </a:r>
          </a:p>
        </p:txBody>
      </p:sp>
      <p:sp>
        <p:nvSpPr>
          <p:cNvPr id="3" name="Content Placeholder 2">
            <a:extLst>
              <a:ext uri="{FF2B5EF4-FFF2-40B4-BE49-F238E27FC236}">
                <a16:creationId xmlns:a16="http://schemas.microsoft.com/office/drawing/2014/main" id="{7C8341B3-6531-B5D1-8DA5-0924E46AECFF}"/>
              </a:ext>
            </a:extLst>
          </p:cNvPr>
          <p:cNvSpPr>
            <a:spLocks noGrp="1"/>
          </p:cNvSpPr>
          <p:nvPr>
            <p:ph idx="1"/>
          </p:nvPr>
        </p:nvSpPr>
        <p:spPr>
          <a:xfrm>
            <a:off x="3575304" y="2313432"/>
            <a:ext cx="6327648" cy="3218688"/>
          </a:xfrm>
          <a:noFill/>
        </p:spPr>
        <p:txBody>
          <a:bodyPr>
            <a:noAutofit/>
          </a:bodyPr>
          <a:lstStyle/>
          <a:p>
            <a:r>
              <a:rPr lang="vi-VN"/>
              <a:t>Đây là một </a:t>
            </a:r>
            <a:r>
              <a:rPr lang="vi-VN" b="1"/>
              <a:t>loại GenAI chuyên biệt về ngôn ngữ</a:t>
            </a:r>
            <a:r>
              <a:rPr lang="vi-VN"/>
              <a:t>. LLM được huấn luyện trên một kho dữ liệu văn bản khổng lồ (ví dụ: phần lớn nội dung trên internet). Nhờ vậy, nó có khả năng hiểu sâu sắc ngữ cảnh, tóm tắt, dịch thuật, trả lời câu hỏi và tạo ra văn bản một cách tự nhiên và mạch lạc.</a:t>
            </a:r>
          </a:p>
          <a:p>
            <a:r>
              <a:rPr lang="vi-VN" b="1"/>
              <a:t>Ví dụ:</a:t>
            </a:r>
            <a:r>
              <a:rPr lang="vi-VN"/>
              <a:t> GPT-4 (dùng trong ChatGPT), Gemini (dùng trong Google Bard/Gemini), Llama (của Meta).</a:t>
            </a:r>
          </a:p>
        </p:txBody>
      </p:sp>
      <p:sp>
        <p:nvSpPr>
          <p:cNvPr id="10" name="Slide Number Placeholder 9">
            <a:extLst>
              <a:ext uri="{FF2B5EF4-FFF2-40B4-BE49-F238E27FC236}">
                <a16:creationId xmlns:a16="http://schemas.microsoft.com/office/drawing/2014/main" id="{E53B75ED-CAAD-4D91-9613-F3455933C588}"/>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5</a:t>
            </a:fld>
            <a:endParaRPr lang="en-US"/>
          </a:p>
        </p:txBody>
      </p:sp>
    </p:spTree>
    <p:extLst>
      <p:ext uri="{BB962C8B-B14F-4D97-AF65-F5344CB8AC3E}">
        <p14:creationId xmlns:p14="http://schemas.microsoft.com/office/powerpoint/2010/main" val="37289725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a:extLst>
            <a:ext uri="{FF2B5EF4-FFF2-40B4-BE49-F238E27FC236}">
              <a16:creationId xmlns:a16="http://schemas.microsoft.com/office/drawing/2014/main" id="{B017C4E3-5BAF-4EF1-B60D-535F4FF39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D859F-C7EE-33A4-4E50-43A8C7B75B3D}"/>
              </a:ext>
            </a:extLst>
          </p:cNvPr>
          <p:cNvSpPr>
            <a:spLocks noGrp="1"/>
          </p:cNvSpPr>
          <p:nvPr>
            <p:ph type="title"/>
          </p:nvPr>
        </p:nvSpPr>
        <p:spPr>
          <a:xfrm>
            <a:off x="1078992" y="365760"/>
            <a:ext cx="10277856" cy="1655064"/>
          </a:xfrm>
          <a:noFill/>
        </p:spPr>
        <p:txBody>
          <a:bodyPr anchor="b">
            <a:noAutofit/>
          </a:bodyPr>
          <a:lstStyle/>
          <a:p>
            <a:r>
              <a:rPr lang="en-US"/>
              <a:t>Retrieval-Augmented Generation (RAG)</a:t>
            </a:r>
          </a:p>
        </p:txBody>
      </p:sp>
      <p:sp>
        <p:nvSpPr>
          <p:cNvPr id="3" name="Content Placeholder 2">
            <a:extLst>
              <a:ext uri="{FF2B5EF4-FFF2-40B4-BE49-F238E27FC236}">
                <a16:creationId xmlns:a16="http://schemas.microsoft.com/office/drawing/2014/main" id="{2809F08A-0B02-6831-8997-FA9537BF1EF5}"/>
              </a:ext>
            </a:extLst>
          </p:cNvPr>
          <p:cNvSpPr>
            <a:spLocks noGrp="1"/>
          </p:cNvSpPr>
          <p:nvPr>
            <p:ph idx="1"/>
          </p:nvPr>
        </p:nvSpPr>
        <p:spPr>
          <a:xfrm>
            <a:off x="3575304" y="2313432"/>
            <a:ext cx="6327648" cy="4178808"/>
          </a:xfrm>
          <a:noFill/>
        </p:spPr>
        <p:txBody>
          <a:bodyPr>
            <a:noAutofit/>
          </a:bodyPr>
          <a:lstStyle/>
          <a:p>
            <a:r>
              <a:rPr lang="vi-VN" b="1"/>
              <a:t>RAG (Retrieval-Augmented Generation - Tạo sinh tăng cường truy xuất)</a:t>
            </a:r>
          </a:p>
          <a:p>
            <a:r>
              <a:rPr lang="vi-VN"/>
              <a:t>Đây là một </a:t>
            </a:r>
            <a:r>
              <a:rPr lang="vi-VN" b="1"/>
              <a:t>kỹ thuật hoặc kiến trúc</a:t>
            </a:r>
            <a:r>
              <a:rPr lang="vi-VN"/>
              <a:t> được sử dụng để cải thiện hiệu suất của LLM. RAG kết hợp khả năng tạo sinh văn bản của LLM với một hệ thống truy xuất thông tin (như một cơ sở dữ liệu riêng, tài liệu nội bộ, hoặc công cụ tìm kiếm).</a:t>
            </a:r>
          </a:p>
          <a:p>
            <a:r>
              <a:rPr lang="vi-VN" b="1"/>
              <a:t>Mục đích:</a:t>
            </a:r>
            <a:r>
              <a:rPr lang="vi-VN"/>
              <a:t> Khi LLM nhận một câu hỏi, thay vì chỉ dựa vào kiến thức "tĩnh" (kiến thức nó có tại thời điểm huấn luyện), RAG sẽ chủ động </a:t>
            </a:r>
            <a:r>
              <a:rPr lang="vi-VN" i="1"/>
              <a:t>truy xuất</a:t>
            </a:r>
            <a:r>
              <a:rPr lang="vi-VN"/>
              <a:t> thông tin liên quan, cập nhật từ một nguồn bên ngoài. Sau đó, nó cung cấp thông tin này cho LLM làm "ngữ cảnh" để tạo ra câu trả lời chính xác hơn, đáng tin cậy hơn và giảm thiểu việc "ảo giác" (bịa thông tin).</a:t>
            </a:r>
          </a:p>
        </p:txBody>
      </p:sp>
      <p:sp>
        <p:nvSpPr>
          <p:cNvPr id="10" name="Slide Number Placeholder 9">
            <a:extLst>
              <a:ext uri="{FF2B5EF4-FFF2-40B4-BE49-F238E27FC236}">
                <a16:creationId xmlns:a16="http://schemas.microsoft.com/office/drawing/2014/main" id="{D3860218-2F90-8753-E781-0FCF235E056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6</a:t>
            </a:fld>
            <a:endParaRPr lang="en-US"/>
          </a:p>
        </p:txBody>
      </p:sp>
    </p:spTree>
    <p:extLst>
      <p:ext uri="{BB962C8B-B14F-4D97-AF65-F5344CB8AC3E}">
        <p14:creationId xmlns:p14="http://schemas.microsoft.com/office/powerpoint/2010/main" val="12258843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1078992" y="365760"/>
            <a:ext cx="10506456" cy="1655064"/>
          </a:xfrm>
          <a:noFill/>
        </p:spPr>
        <p:txBody>
          <a:bodyPr>
            <a:noAutofit/>
          </a:bodyPr>
          <a:lstStyle/>
          <a:p>
            <a:r>
              <a:rPr lang="en-US" err="1"/>
              <a:t>Mối</a:t>
            </a:r>
            <a:r>
              <a:rPr lang="en-US"/>
              <a:t> </a:t>
            </a:r>
            <a:r>
              <a:rPr lang="en-US" err="1"/>
              <a:t>liên</a:t>
            </a:r>
            <a:r>
              <a:rPr lang="en-US"/>
              <a:t> </a:t>
            </a:r>
            <a:r>
              <a:rPr lang="en-US" err="1"/>
              <a:t>hệ</a:t>
            </a:r>
            <a:r>
              <a:rPr lang="en-US"/>
              <a:t> </a:t>
            </a:r>
            <a:r>
              <a:rPr lang="en-US" err="1"/>
              <a:t>giữa</a:t>
            </a:r>
            <a:r>
              <a:rPr lang="en-US"/>
              <a:t> GenAI, LLM </a:t>
            </a:r>
            <a:r>
              <a:rPr lang="en-US" err="1"/>
              <a:t>và</a:t>
            </a:r>
            <a:r>
              <a:rPr lang="en-US"/>
              <a:t> RAG</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1097280" y="2432304"/>
            <a:ext cx="3108960" cy="4059936"/>
          </a:xfrm>
          <a:noFill/>
        </p:spPr>
        <p:txBody>
          <a:bodyPr vert="horz" lIns="91440" tIns="45720" rIns="91440" bIns="45720" rtlCol="0" anchor="t">
            <a:normAutofit fontScale="92500" lnSpcReduction="10000"/>
          </a:bodyPr>
          <a:lstStyle/>
          <a:p>
            <a:pPr marL="285750" indent="-285750">
              <a:buFont typeface="Wingdings" panose="05000000000000000000" pitchFamily="2" charset="2"/>
              <a:buChar char="Ø"/>
            </a:pPr>
            <a:r>
              <a:rPr lang="vi-VN" b="1">
                <a:solidFill>
                  <a:srgbClr val="091C53"/>
                </a:solidFill>
                <a:latin typeface="Aptos Display" panose="020B0004020202020204" pitchFamily="34" charset="0"/>
              </a:rPr>
              <a:t>Generative AI</a:t>
            </a:r>
          </a:p>
          <a:p>
            <a:r>
              <a:rPr lang="vi-VN">
                <a:solidFill>
                  <a:srgbClr val="091C53"/>
                </a:solidFill>
                <a:latin typeface="Aptos Display" panose="020B0004020202020204" pitchFamily="34" charset="0"/>
              </a:rPr>
              <a:t>Nền tảng chung dựa trên LLM để tạo nội dung đa dạng</a:t>
            </a:r>
          </a:p>
          <a:p>
            <a:pPr marL="285750" indent="-285750">
              <a:buFont typeface="Wingdings" panose="05000000000000000000" pitchFamily="2" charset="2"/>
              <a:buChar char="Ø"/>
            </a:pPr>
            <a:r>
              <a:rPr lang="vi-VN" b="1">
                <a:solidFill>
                  <a:srgbClr val="091C53"/>
                </a:solidFill>
                <a:latin typeface="Aptos Display" panose="020B0004020202020204" pitchFamily="34" charset="0"/>
              </a:rPr>
              <a:t>LLM là Nền Tảng</a:t>
            </a:r>
          </a:p>
          <a:p>
            <a:r>
              <a:rPr lang="vi-VN">
                <a:solidFill>
                  <a:srgbClr val="091C53"/>
                </a:solidFill>
                <a:latin typeface="Aptos Display" panose="020B0004020202020204" pitchFamily="34" charset="0"/>
              </a:rPr>
              <a:t>Cung cấp khả năng ngôn ngữ mạnh nhưng kiến thức tĩnh</a:t>
            </a:r>
            <a:endParaRPr lang="en-US">
              <a:solidFill>
                <a:srgbClr val="091C53"/>
              </a:solidFill>
              <a:latin typeface="Aptos Display" panose="020B0004020202020204" pitchFamily="34" charset="0"/>
            </a:endParaRPr>
          </a:p>
          <a:p>
            <a:pPr marL="285750" indent="-285750">
              <a:buFont typeface="Wingdings" panose="05000000000000000000" pitchFamily="2" charset="2"/>
              <a:buChar char="Ø"/>
            </a:pPr>
            <a:r>
              <a:rPr lang="vi-VN" b="1">
                <a:solidFill>
                  <a:srgbClr val="091C53"/>
                </a:solidFill>
                <a:latin typeface="Aptos Display" panose="020B0004020202020204" pitchFamily="34" charset="0"/>
              </a:rPr>
              <a:t>RAG Bổ Sung</a:t>
            </a:r>
          </a:p>
          <a:p>
            <a:r>
              <a:rPr lang="vi-VN">
                <a:solidFill>
                  <a:srgbClr val="091C53"/>
                </a:solidFill>
                <a:latin typeface="Aptos Display" panose="020B0004020202020204" pitchFamily="34" charset="0"/>
              </a:rPr>
              <a:t>Thêm kiến thức động từ nguồn bên ngoài, vượt qua hạn chế</a:t>
            </a:r>
          </a:p>
          <a:p>
            <a:pPr marL="285750" indent="-285750">
              <a:buFont typeface="Wingdings" panose="05000000000000000000" pitchFamily="2" charset="2"/>
              <a:buChar char="Ø"/>
            </a:pPr>
            <a:r>
              <a:rPr lang="en-US" b="1">
                <a:solidFill>
                  <a:srgbClr val="091C53"/>
                </a:solidFill>
                <a:latin typeface="Aptos Display" panose="020B0004020202020204" pitchFamily="34" charset="0"/>
              </a:rPr>
              <a:t>VIAIBOT</a:t>
            </a:r>
            <a:endParaRPr lang="vi-VN" b="1">
              <a:solidFill>
                <a:srgbClr val="091C53"/>
              </a:solidFill>
              <a:latin typeface="Aptos Display" panose="020B0004020202020204" pitchFamily="34" charset="0"/>
            </a:endParaRPr>
          </a:p>
          <a:p>
            <a:r>
              <a:rPr lang="en-US" err="1">
                <a:solidFill>
                  <a:srgbClr val="091C53"/>
                </a:solidFill>
                <a:latin typeface="Aptos Display" panose="020B0004020202020204" pitchFamily="34" charset="0"/>
              </a:rPr>
              <a:t>Là</a:t>
            </a:r>
            <a:r>
              <a:rPr lang="en-US">
                <a:solidFill>
                  <a:srgbClr val="091C53"/>
                </a:solidFill>
                <a:latin typeface="Aptos Display" panose="020B0004020202020204" pitchFamily="34" charset="0"/>
              </a:rPr>
              <a:t> </a:t>
            </a:r>
            <a:r>
              <a:rPr lang="en-US" err="1">
                <a:solidFill>
                  <a:srgbClr val="091C53"/>
                </a:solidFill>
                <a:latin typeface="Aptos Display" panose="020B0004020202020204" pitchFamily="34" charset="0"/>
              </a:rPr>
              <a:t>một</a:t>
            </a:r>
            <a:r>
              <a:rPr lang="en-US">
                <a:solidFill>
                  <a:srgbClr val="091C53"/>
                </a:solidFill>
                <a:latin typeface="Aptos Display" panose="020B0004020202020204" pitchFamily="34" charset="0"/>
              </a:rPr>
              <a:t> GenAI (RAG) </a:t>
            </a:r>
            <a:r>
              <a:rPr lang="en-US" err="1">
                <a:solidFill>
                  <a:srgbClr val="091C53"/>
                </a:solidFill>
                <a:latin typeface="Aptos Display" panose="020B0004020202020204" pitchFamily="34" charset="0"/>
              </a:rPr>
              <a:t>sử</a:t>
            </a:r>
            <a:r>
              <a:rPr lang="en-US">
                <a:solidFill>
                  <a:srgbClr val="091C53"/>
                </a:solidFill>
                <a:latin typeface="Aptos Display" panose="020B0004020202020204" pitchFamily="34" charset="0"/>
              </a:rPr>
              <a:t> </a:t>
            </a:r>
            <a:r>
              <a:rPr lang="en-US" err="1">
                <a:solidFill>
                  <a:srgbClr val="091C53"/>
                </a:solidFill>
                <a:latin typeface="Aptos Display" panose="020B0004020202020204" pitchFamily="34" charset="0"/>
              </a:rPr>
              <a:t>dụng</a:t>
            </a:r>
            <a:r>
              <a:rPr lang="en-US">
                <a:solidFill>
                  <a:srgbClr val="091C53"/>
                </a:solidFill>
                <a:latin typeface="Aptos Display" panose="020B0004020202020204" pitchFamily="34" charset="0"/>
              </a:rPr>
              <a:t> LLM </a:t>
            </a:r>
            <a:r>
              <a:rPr lang="en-US" err="1">
                <a:solidFill>
                  <a:srgbClr val="091C53"/>
                </a:solidFill>
                <a:latin typeface="Aptos Display" panose="020B0004020202020204" pitchFamily="34" charset="0"/>
              </a:rPr>
              <a:t>để</a:t>
            </a:r>
            <a:r>
              <a:rPr lang="en-US">
                <a:solidFill>
                  <a:srgbClr val="091C53"/>
                </a:solidFill>
                <a:latin typeface="Aptos Display" panose="020B0004020202020204" pitchFamily="34" charset="0"/>
              </a:rPr>
              <a:t> </a:t>
            </a:r>
            <a:r>
              <a:rPr lang="en-US" err="1">
                <a:solidFill>
                  <a:srgbClr val="091C53"/>
                </a:solidFill>
                <a:latin typeface="Aptos Display" panose="020B0004020202020204" pitchFamily="34" charset="0"/>
              </a:rPr>
              <a:t>tạo</a:t>
            </a:r>
            <a:r>
              <a:rPr lang="en-US">
                <a:solidFill>
                  <a:srgbClr val="091C53"/>
                </a:solidFill>
                <a:latin typeface="Aptos Display" panose="020B0004020202020204" pitchFamily="34" charset="0"/>
              </a:rPr>
              <a:t> </a:t>
            </a:r>
            <a:r>
              <a:rPr lang="en-US" err="1">
                <a:solidFill>
                  <a:srgbClr val="091C53"/>
                </a:solidFill>
                <a:latin typeface="Aptos Display" panose="020B0004020202020204" pitchFamily="34" charset="0"/>
              </a:rPr>
              <a:t>nội</a:t>
            </a:r>
            <a:r>
              <a:rPr lang="en-US">
                <a:solidFill>
                  <a:srgbClr val="091C53"/>
                </a:solidFill>
                <a:latin typeface="Aptos Display" panose="020B0004020202020204" pitchFamily="34" charset="0"/>
              </a:rPr>
              <a:t> dung </a:t>
            </a:r>
            <a:r>
              <a:rPr lang="en-US" err="1">
                <a:solidFill>
                  <a:srgbClr val="091C53"/>
                </a:solidFill>
                <a:latin typeface="Aptos Display" panose="020B0004020202020204" pitchFamily="34" charset="0"/>
              </a:rPr>
              <a:t>dựa</a:t>
            </a:r>
            <a:r>
              <a:rPr lang="en-US">
                <a:solidFill>
                  <a:srgbClr val="091C53"/>
                </a:solidFill>
                <a:latin typeface="Aptos Display" panose="020B0004020202020204" pitchFamily="34" charset="0"/>
              </a:rPr>
              <a:t> </a:t>
            </a:r>
            <a:r>
              <a:rPr lang="en-US" err="1">
                <a:solidFill>
                  <a:srgbClr val="091C53"/>
                </a:solidFill>
                <a:latin typeface="Aptos Display" panose="020B0004020202020204" pitchFamily="34" charset="0"/>
              </a:rPr>
              <a:t>trên</a:t>
            </a:r>
            <a:r>
              <a:rPr lang="en-US">
                <a:solidFill>
                  <a:srgbClr val="091C53"/>
                </a:solidFill>
                <a:latin typeface="Aptos Display" panose="020B0004020202020204" pitchFamily="34" charset="0"/>
              </a:rPr>
              <a:t> </a:t>
            </a:r>
            <a:r>
              <a:rPr lang="en-US" err="1">
                <a:solidFill>
                  <a:srgbClr val="091C53"/>
                </a:solidFill>
                <a:latin typeface="Aptos Display" panose="020B0004020202020204" pitchFamily="34" charset="0"/>
              </a:rPr>
              <a:t>kiến</a:t>
            </a:r>
            <a:r>
              <a:rPr lang="en-US">
                <a:solidFill>
                  <a:srgbClr val="091C53"/>
                </a:solidFill>
                <a:latin typeface="Aptos Display" panose="020B0004020202020204" pitchFamily="34" charset="0"/>
              </a:rPr>
              <a:t> </a:t>
            </a:r>
            <a:r>
              <a:rPr lang="en-US" err="1">
                <a:solidFill>
                  <a:srgbClr val="091C53"/>
                </a:solidFill>
                <a:latin typeface="Aptos Display" panose="020B0004020202020204" pitchFamily="34" charset="0"/>
              </a:rPr>
              <a:t>thức</a:t>
            </a:r>
            <a:r>
              <a:rPr lang="en-US">
                <a:solidFill>
                  <a:srgbClr val="091C53"/>
                </a:solidFill>
                <a:latin typeface="Aptos Display" panose="020B0004020202020204" pitchFamily="34" charset="0"/>
              </a:rPr>
              <a:t> </a:t>
            </a:r>
            <a:r>
              <a:rPr lang="en-US" err="1">
                <a:solidFill>
                  <a:srgbClr val="091C53"/>
                </a:solidFill>
                <a:latin typeface="Aptos Display" panose="020B0004020202020204" pitchFamily="34" charset="0"/>
              </a:rPr>
              <a:t>được</a:t>
            </a:r>
            <a:r>
              <a:rPr lang="en-US">
                <a:solidFill>
                  <a:srgbClr val="091C53"/>
                </a:solidFill>
                <a:latin typeface="Aptos Display" panose="020B0004020202020204" pitchFamily="34" charset="0"/>
              </a:rPr>
              <a:t> </a:t>
            </a:r>
            <a:r>
              <a:rPr lang="en-US" err="1">
                <a:solidFill>
                  <a:srgbClr val="091C53"/>
                </a:solidFill>
                <a:latin typeface="Aptos Display" panose="020B0004020202020204" pitchFamily="34" charset="0"/>
              </a:rPr>
              <a:t>cung</a:t>
            </a:r>
            <a:r>
              <a:rPr lang="en-US">
                <a:solidFill>
                  <a:srgbClr val="091C53"/>
                </a:solidFill>
                <a:latin typeface="Aptos Display" panose="020B0004020202020204" pitchFamily="34" charset="0"/>
              </a:rPr>
              <a:t> </a:t>
            </a:r>
            <a:r>
              <a:rPr lang="en-US" err="1">
                <a:solidFill>
                  <a:srgbClr val="091C53"/>
                </a:solidFill>
                <a:latin typeface="Aptos Display" panose="020B0004020202020204" pitchFamily="34" charset="0"/>
              </a:rPr>
              <a:t>cấp</a:t>
            </a:r>
            <a:r>
              <a:rPr lang="en-US">
                <a:solidFill>
                  <a:srgbClr val="091C53"/>
                </a:solidFill>
                <a:latin typeface="Aptos Display" panose="020B0004020202020204" pitchFamily="34" charset="0"/>
              </a:rPr>
              <a:t>.</a:t>
            </a:r>
            <a:endParaRPr lang="vi-VN">
              <a:solidFill>
                <a:srgbClr val="091C53"/>
              </a:solidFill>
              <a:latin typeface="Aptos Display" panose="020B0004020202020204" pitchFamily="34" charset="0"/>
            </a:endParaRPr>
          </a:p>
          <a:p>
            <a:endParaRPr lang="vi-VN">
              <a:solidFill>
                <a:srgbClr val="091C53"/>
              </a:solidFill>
              <a:latin typeface="Aptos Display" panose="020B0004020202020204" pitchFamily="34" charset="0"/>
            </a:endParaRPr>
          </a:p>
        </p:txBody>
      </p:sp>
      <p:sp>
        <p:nvSpPr>
          <p:cNvPr id="21" name="Slide Number Placeholder 20">
            <a:extLst>
              <a:ext uri="{FF2B5EF4-FFF2-40B4-BE49-F238E27FC236}">
                <a16:creationId xmlns:a16="http://schemas.microsoft.com/office/drawing/2014/main" id="{E39E6080-E7F0-678F-65B9-B64B99BDF328}"/>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7</a:t>
            </a:fld>
            <a:endParaRPr lang="en-US"/>
          </a:p>
        </p:txBody>
      </p:sp>
      <p:pic>
        <p:nvPicPr>
          <p:cNvPr id="6" name="Content Placeholder 5">
            <a:extLst>
              <a:ext uri="{FF2B5EF4-FFF2-40B4-BE49-F238E27FC236}">
                <a16:creationId xmlns:a16="http://schemas.microsoft.com/office/drawing/2014/main" id="{9D1D515B-50F9-D2A0-4998-78758E5A3DA0}"/>
              </a:ext>
            </a:extLst>
          </p:cNvPr>
          <p:cNvPicPr>
            <a:picLocks noGrp="1" noChangeAspect="1"/>
          </p:cNvPicPr>
          <p:nvPr>
            <p:ph sz="half" idx="2"/>
          </p:nvPr>
        </p:nvPicPr>
        <p:blipFill>
          <a:blip r:embed="rId2"/>
          <a:stretch>
            <a:fillRect/>
          </a:stretch>
        </p:blipFill>
        <p:spPr>
          <a:xfrm>
            <a:off x="4737100" y="2416856"/>
            <a:ext cx="6619875" cy="2921225"/>
          </a:xfrm>
          <a:prstGeom prst="rect">
            <a:avLst/>
          </a:prstGeom>
        </p:spPr>
      </p:pic>
    </p:spTree>
    <p:extLst>
      <p:ext uri="{BB962C8B-B14F-4D97-AF65-F5344CB8AC3E}">
        <p14:creationId xmlns:p14="http://schemas.microsoft.com/office/powerpoint/2010/main" val="27372412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075B4-54F1-BB29-50D9-4096289F0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7D5B05-3E49-1ADD-C11B-8126CFA0E5AF}"/>
              </a:ext>
            </a:extLst>
          </p:cNvPr>
          <p:cNvSpPr>
            <a:spLocks noGrp="1"/>
          </p:cNvSpPr>
          <p:nvPr>
            <p:ph type="ctrTitle"/>
          </p:nvPr>
        </p:nvSpPr>
        <p:spPr>
          <a:xfrm>
            <a:off x="515938" y="27432"/>
            <a:ext cx="11142662" cy="3566160"/>
          </a:xfrm>
          <a:noFill/>
        </p:spPr>
        <p:txBody>
          <a:bodyPr>
            <a:noAutofit/>
          </a:bodyPr>
          <a:lstStyle/>
          <a:p>
            <a:pPr algn="r"/>
            <a:r>
              <a:rPr lang="en-US" sz="4000"/>
              <a:t>2. </a:t>
            </a:r>
            <a:r>
              <a:rPr lang="en-US" sz="4000" err="1"/>
              <a:t>Giới</a:t>
            </a:r>
            <a:r>
              <a:rPr lang="en-US" sz="4000"/>
              <a:t> </a:t>
            </a:r>
            <a:r>
              <a:rPr lang="en-US" sz="4000" err="1"/>
              <a:t>thiệu</a:t>
            </a:r>
            <a:r>
              <a:rPr lang="en-US" sz="4000"/>
              <a:t> </a:t>
            </a:r>
            <a:r>
              <a:rPr lang="en-US" sz="4000" err="1"/>
              <a:t>tổng</a:t>
            </a:r>
            <a:r>
              <a:rPr lang="en-US" sz="4000"/>
              <a:t> </a:t>
            </a:r>
            <a:r>
              <a:rPr lang="en-US" sz="4000" err="1"/>
              <a:t>quan</a:t>
            </a:r>
            <a:r>
              <a:rPr lang="en-US" sz="4000"/>
              <a:t> VIAIBOT</a:t>
            </a:r>
          </a:p>
        </p:txBody>
      </p:sp>
    </p:spTree>
    <p:extLst>
      <p:ext uri="{BB962C8B-B14F-4D97-AF65-F5344CB8AC3E}">
        <p14:creationId xmlns:p14="http://schemas.microsoft.com/office/powerpoint/2010/main" val="13153057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078992" y="365760"/>
            <a:ext cx="10277856" cy="1655064"/>
          </a:xfrm>
          <a:noFill/>
        </p:spPr>
        <p:txBody>
          <a:bodyPr>
            <a:noAutofit/>
          </a:bodyPr>
          <a:lstStyle/>
          <a:p>
            <a:r>
              <a:rPr lang="en-US"/>
              <a:t>Các </a:t>
            </a:r>
            <a:r>
              <a:rPr lang="en-US" err="1"/>
              <a:t>tính</a:t>
            </a:r>
            <a:r>
              <a:rPr lang="en-US"/>
              <a:t> </a:t>
            </a:r>
            <a:r>
              <a:rPr lang="en-US" err="1"/>
              <a:t>năng</a:t>
            </a:r>
            <a:r>
              <a:rPr lang="en-US"/>
              <a:t> </a:t>
            </a:r>
            <a:r>
              <a:rPr lang="en-US" err="1"/>
              <a:t>chính</a:t>
            </a:r>
            <a:endParaRPr lang="en-US"/>
          </a:p>
        </p:txBody>
      </p:sp>
      <p:sp>
        <p:nvSpPr>
          <p:cNvPr id="3" name="Content Placeholder 2">
            <a:extLst>
              <a:ext uri="{FF2B5EF4-FFF2-40B4-BE49-F238E27FC236}">
                <a16:creationId xmlns:a16="http://schemas.microsoft.com/office/drawing/2014/main" id="{FACE640F-7F5A-BDB7-205D-765FA80B6796}"/>
              </a:ext>
            </a:extLst>
          </p:cNvPr>
          <p:cNvSpPr>
            <a:spLocks noGrp="1"/>
          </p:cNvSpPr>
          <p:nvPr>
            <p:ph idx="1"/>
          </p:nvPr>
        </p:nvSpPr>
        <p:spPr>
          <a:xfrm>
            <a:off x="5338890" y="2204937"/>
            <a:ext cx="6327648" cy="3090672"/>
          </a:xfrm>
          <a:noFill/>
        </p:spPr>
        <p:txBody>
          <a:bodyPr vert="horz" lIns="91440" tIns="45720" rIns="91440" bIns="45720" rtlCol="0" anchor="t">
            <a:normAutofit/>
          </a:bodyPr>
          <a:lstStyle/>
          <a:p>
            <a:pPr marL="457200" indent="-457200">
              <a:buAutoNum type="arabicPeriod"/>
            </a:pPr>
            <a:r>
              <a:rPr lang="en-US"/>
              <a:t>Trang </a:t>
            </a:r>
            <a:r>
              <a:rPr lang="en-US" err="1"/>
              <a:t>chủ</a:t>
            </a:r>
            <a:endParaRPr lang="en-US"/>
          </a:p>
          <a:p>
            <a:pPr marL="457200" indent="-457200">
              <a:buAutoNum type="arabicPeriod"/>
            </a:pPr>
            <a:r>
              <a:rPr lang="en-US" err="1"/>
              <a:t>Tạo</a:t>
            </a:r>
            <a:r>
              <a:rPr lang="en-US"/>
              <a:t> </a:t>
            </a:r>
            <a:r>
              <a:rPr lang="en-US" err="1"/>
              <a:t>trợ</a:t>
            </a:r>
            <a:r>
              <a:rPr lang="en-US"/>
              <a:t> </a:t>
            </a:r>
            <a:r>
              <a:rPr lang="en-US" err="1"/>
              <a:t>lý</a:t>
            </a:r>
            <a:r>
              <a:rPr lang="en-US"/>
              <a:t> AI</a:t>
            </a:r>
          </a:p>
          <a:p>
            <a:pPr marL="457200" indent="-457200">
              <a:buAutoNum type="arabicPeriod"/>
            </a:pPr>
            <a:r>
              <a:rPr lang="en-US" err="1"/>
              <a:t>Trò</a:t>
            </a:r>
            <a:r>
              <a:rPr lang="en-US"/>
              <a:t> </a:t>
            </a:r>
            <a:r>
              <a:rPr lang="en-US" err="1"/>
              <a:t>chuyện</a:t>
            </a:r>
            <a:endParaRPr lang="en-US"/>
          </a:p>
          <a:p>
            <a:pPr marL="457200" indent="-457200">
              <a:buAutoNum type="arabicPeriod"/>
            </a:pPr>
            <a:r>
              <a:rPr lang="en-US"/>
              <a:t>Quản </a:t>
            </a:r>
            <a:r>
              <a:rPr lang="en-US" err="1"/>
              <a:t>lý</a:t>
            </a:r>
            <a:r>
              <a:rPr lang="en-US"/>
              <a:t> </a:t>
            </a:r>
            <a:r>
              <a:rPr lang="en-US" err="1"/>
              <a:t>Trợ</a:t>
            </a:r>
            <a:r>
              <a:rPr lang="en-US"/>
              <a:t> </a:t>
            </a:r>
            <a:r>
              <a:rPr lang="en-US" err="1"/>
              <a:t>lý</a:t>
            </a:r>
            <a:r>
              <a:rPr lang="en-US"/>
              <a:t> AI</a:t>
            </a:r>
          </a:p>
          <a:p>
            <a:pPr marL="457200" indent="-457200">
              <a:buAutoNum type="arabicPeriod"/>
            </a:pPr>
            <a:r>
              <a:rPr lang="en-US"/>
              <a:t>Kho tri </a:t>
            </a:r>
            <a:r>
              <a:rPr lang="en-US" err="1"/>
              <a:t>thức</a:t>
            </a:r>
            <a:endParaRPr lang="en-US"/>
          </a:p>
        </p:txBody>
      </p:sp>
      <p:sp>
        <p:nvSpPr>
          <p:cNvPr id="8" name="Slide Number Placeholder 7">
            <a:extLst>
              <a:ext uri="{FF2B5EF4-FFF2-40B4-BE49-F238E27FC236}">
                <a16:creationId xmlns:a16="http://schemas.microsoft.com/office/drawing/2014/main" id="{093736AF-0027-E734-82A8-010D7129D04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9</a:t>
            </a:fld>
            <a:endParaRPr lang="en-US"/>
          </a:p>
        </p:txBody>
      </p:sp>
    </p:spTree>
    <p:extLst>
      <p:ext uri="{BB962C8B-B14F-4D97-AF65-F5344CB8AC3E}">
        <p14:creationId xmlns:p14="http://schemas.microsoft.com/office/powerpoint/2010/main" val="7296091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1078992" y="365760"/>
            <a:ext cx="10277856" cy="1655064"/>
          </a:xfrm>
          <a:noFill/>
        </p:spPr>
        <p:txBody>
          <a:bodyPr>
            <a:noAutofit/>
          </a:bodyPr>
          <a:lstStyle/>
          <a:p>
            <a:r>
              <a:rPr lang="en-US"/>
              <a:t>Trang </a:t>
            </a:r>
            <a:r>
              <a:rPr lang="en-US" err="1"/>
              <a:t>chủ</a:t>
            </a:r>
            <a:endParaRPr lang="en-US"/>
          </a:p>
        </p:txBody>
      </p:sp>
      <p:sp>
        <p:nvSpPr>
          <p:cNvPr id="4" name="Content Placeholder 3">
            <a:extLst>
              <a:ext uri="{FF2B5EF4-FFF2-40B4-BE49-F238E27FC236}">
                <a16:creationId xmlns:a16="http://schemas.microsoft.com/office/drawing/2014/main" id="{D97126AE-AE4A-97A5-21F5-E5ACF7E0605F}"/>
              </a:ext>
            </a:extLst>
          </p:cNvPr>
          <p:cNvSpPr>
            <a:spLocks noGrp="1"/>
          </p:cNvSpPr>
          <p:nvPr>
            <p:ph idx="13"/>
          </p:nvPr>
        </p:nvSpPr>
        <p:spPr>
          <a:xfrm>
            <a:off x="7671816" y="2441448"/>
            <a:ext cx="3602736" cy="3575304"/>
          </a:xfrm>
          <a:noFill/>
        </p:spPr>
        <p:txBody>
          <a:bodyPr vert="horz" lIns="91440" tIns="45720" rIns="91440" bIns="45720" rtlCol="0" anchor="t">
            <a:normAutofit/>
          </a:bodyPr>
          <a:lstStyle/>
          <a:p>
            <a:r>
              <a:rPr lang="en-US"/>
              <a:t>Hiển </a:t>
            </a:r>
            <a:r>
              <a:rPr lang="en-US" err="1"/>
              <a:t>thị</a:t>
            </a:r>
            <a:r>
              <a:rPr lang="en-US"/>
              <a:t> </a:t>
            </a:r>
            <a:r>
              <a:rPr lang="en-US" err="1"/>
              <a:t>danh</a:t>
            </a:r>
            <a:r>
              <a:rPr lang="en-US"/>
              <a:t> </a:t>
            </a:r>
            <a:r>
              <a:rPr lang="en-US" err="1"/>
              <a:t>sách</a:t>
            </a:r>
            <a:r>
              <a:rPr lang="en-US"/>
              <a:t> </a:t>
            </a:r>
            <a:r>
              <a:rPr lang="en-US" err="1"/>
              <a:t>các</a:t>
            </a:r>
            <a:r>
              <a:rPr lang="en-US"/>
              <a:t> </a:t>
            </a:r>
            <a:r>
              <a:rPr lang="en-US" err="1"/>
              <a:t>Trợ</a:t>
            </a:r>
            <a:r>
              <a:rPr lang="en-US"/>
              <a:t> </a:t>
            </a:r>
            <a:r>
              <a:rPr lang="en-US" err="1"/>
              <a:t>lý</a:t>
            </a:r>
            <a:r>
              <a:rPr lang="en-US"/>
              <a:t> AI </a:t>
            </a:r>
            <a:r>
              <a:rPr lang="en-US" err="1"/>
              <a:t>được</a:t>
            </a:r>
            <a:r>
              <a:rPr lang="en-US"/>
              <a:t> </a:t>
            </a:r>
            <a:r>
              <a:rPr lang="en-US" err="1"/>
              <a:t>tạo</a:t>
            </a:r>
            <a:r>
              <a:rPr lang="en-US"/>
              <a:t> </a:t>
            </a:r>
            <a:r>
              <a:rPr lang="en-US" err="1"/>
              <a:t>bởi</a:t>
            </a:r>
            <a:r>
              <a:rPr lang="en-US"/>
              <a:t> </a:t>
            </a:r>
            <a:r>
              <a:rPr lang="en-US" err="1"/>
              <a:t>người</a:t>
            </a:r>
            <a:r>
              <a:rPr lang="en-US"/>
              <a:t> dung.</a:t>
            </a:r>
          </a:p>
        </p:txBody>
      </p:sp>
      <p:sp>
        <p:nvSpPr>
          <p:cNvPr id="13" name="Slide Number Placeholder 12">
            <a:extLst>
              <a:ext uri="{FF2B5EF4-FFF2-40B4-BE49-F238E27FC236}">
                <a16:creationId xmlns:a16="http://schemas.microsoft.com/office/drawing/2014/main" id="{9F61F934-8535-E086-C153-D48E49B98B6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10</a:t>
            </a:fld>
            <a:endParaRPr lang="en-US"/>
          </a:p>
        </p:txBody>
      </p:sp>
      <p:pic>
        <p:nvPicPr>
          <p:cNvPr id="8" name="Content Placeholder 7">
            <a:extLst>
              <a:ext uri="{FF2B5EF4-FFF2-40B4-BE49-F238E27FC236}">
                <a16:creationId xmlns:a16="http://schemas.microsoft.com/office/drawing/2014/main" id="{CB81B1C2-D82B-202F-45A9-025691B1D52A}"/>
              </a:ext>
            </a:extLst>
          </p:cNvPr>
          <p:cNvPicPr>
            <a:picLocks noGrp="1" noChangeAspect="1"/>
          </p:cNvPicPr>
          <p:nvPr>
            <p:ph idx="1"/>
          </p:nvPr>
        </p:nvPicPr>
        <p:blipFill>
          <a:blip r:embed="rId2"/>
          <a:stretch>
            <a:fillRect/>
          </a:stretch>
        </p:blipFill>
        <p:spPr>
          <a:xfrm>
            <a:off x="1375992" y="2441575"/>
            <a:ext cx="5166465" cy="3575050"/>
          </a:xfrm>
          <a:prstGeom prst="rect">
            <a:avLst/>
          </a:prstGeom>
        </p:spPr>
      </p:pic>
    </p:spTree>
    <p:extLst>
      <p:ext uri="{BB962C8B-B14F-4D97-AF65-F5344CB8AC3E}">
        <p14:creationId xmlns:p14="http://schemas.microsoft.com/office/powerpoint/2010/main" val="12108021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6800000" scaled="0"/>
        </a:gradFill>
        <a:effectLst/>
      </p:bgPr>
    </p:bg>
    <p:spTree>
      <p:nvGrpSpPr>
        <p:cNvPr id="1" name="">
          <a:extLst>
            <a:ext uri="{FF2B5EF4-FFF2-40B4-BE49-F238E27FC236}">
              <a16:creationId xmlns:a16="http://schemas.microsoft.com/office/drawing/2014/main" id="{CBEC8313-5D08-0E66-A243-BE618EC0B5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2026E-E5E5-4576-195A-B8DB6066D93D}"/>
              </a:ext>
            </a:extLst>
          </p:cNvPr>
          <p:cNvSpPr>
            <a:spLocks noGrp="1"/>
          </p:cNvSpPr>
          <p:nvPr>
            <p:ph type="title"/>
          </p:nvPr>
        </p:nvSpPr>
        <p:spPr>
          <a:xfrm>
            <a:off x="1078992" y="365760"/>
            <a:ext cx="10277856" cy="1655064"/>
          </a:xfrm>
          <a:noFill/>
        </p:spPr>
        <p:txBody>
          <a:bodyPr>
            <a:noAutofit/>
          </a:bodyPr>
          <a:lstStyle/>
          <a:p>
            <a:r>
              <a:rPr lang="en-US" err="1"/>
              <a:t>Tạo</a:t>
            </a:r>
            <a:r>
              <a:rPr lang="en-US"/>
              <a:t> </a:t>
            </a:r>
            <a:r>
              <a:rPr lang="en-US" err="1"/>
              <a:t>trợ</a:t>
            </a:r>
            <a:r>
              <a:rPr lang="en-US"/>
              <a:t> </a:t>
            </a:r>
            <a:r>
              <a:rPr lang="en-US" err="1"/>
              <a:t>lý</a:t>
            </a:r>
            <a:r>
              <a:rPr lang="en-US"/>
              <a:t> AI</a:t>
            </a:r>
          </a:p>
        </p:txBody>
      </p:sp>
      <p:sp>
        <p:nvSpPr>
          <p:cNvPr id="4" name="Content Placeholder 3">
            <a:extLst>
              <a:ext uri="{FF2B5EF4-FFF2-40B4-BE49-F238E27FC236}">
                <a16:creationId xmlns:a16="http://schemas.microsoft.com/office/drawing/2014/main" id="{85F155A0-8111-9776-133C-7F8536CED23A}"/>
              </a:ext>
            </a:extLst>
          </p:cNvPr>
          <p:cNvSpPr>
            <a:spLocks noGrp="1"/>
          </p:cNvSpPr>
          <p:nvPr>
            <p:ph idx="13"/>
          </p:nvPr>
        </p:nvSpPr>
        <p:spPr>
          <a:xfrm>
            <a:off x="7671816" y="2441448"/>
            <a:ext cx="3602736" cy="3575304"/>
          </a:xfrm>
          <a:noFill/>
        </p:spPr>
        <p:txBody>
          <a:bodyPr vert="horz" lIns="91440" tIns="45720" rIns="91440" bIns="45720" rtlCol="0" anchor="t">
            <a:normAutofit/>
          </a:bodyPr>
          <a:lstStyle/>
          <a:p>
            <a:r>
              <a:rPr lang="en-US" err="1"/>
              <a:t>Tạo</a:t>
            </a:r>
            <a:r>
              <a:rPr lang="en-US"/>
              <a:t> </a:t>
            </a:r>
            <a:r>
              <a:rPr lang="en-US" err="1"/>
              <a:t>Trợ</a:t>
            </a:r>
            <a:r>
              <a:rPr lang="en-US"/>
              <a:t> </a:t>
            </a:r>
            <a:r>
              <a:rPr lang="en-US" err="1"/>
              <a:t>lý</a:t>
            </a:r>
            <a:r>
              <a:rPr lang="en-US"/>
              <a:t> AI </a:t>
            </a:r>
            <a:r>
              <a:rPr lang="en-US" err="1"/>
              <a:t>và</a:t>
            </a:r>
            <a:r>
              <a:rPr lang="en-US"/>
              <a:t> </a:t>
            </a:r>
            <a:r>
              <a:rPr lang="en-US" err="1"/>
              <a:t>thêm</a:t>
            </a:r>
            <a:r>
              <a:rPr lang="en-US"/>
              <a:t> tri </a:t>
            </a:r>
            <a:r>
              <a:rPr lang="en-US" err="1"/>
              <a:t>thức</a:t>
            </a:r>
            <a:r>
              <a:rPr lang="en-US"/>
              <a:t> </a:t>
            </a:r>
            <a:r>
              <a:rPr lang="en-US" err="1"/>
              <a:t>cho</a:t>
            </a:r>
            <a:r>
              <a:rPr lang="en-US"/>
              <a:t> </a:t>
            </a:r>
            <a:r>
              <a:rPr lang="en-US" err="1"/>
              <a:t>trợ</a:t>
            </a:r>
            <a:r>
              <a:rPr lang="en-US"/>
              <a:t> </a:t>
            </a:r>
            <a:r>
              <a:rPr lang="en-US" err="1"/>
              <a:t>lý</a:t>
            </a:r>
            <a:r>
              <a:rPr lang="en-US"/>
              <a:t>.</a:t>
            </a:r>
          </a:p>
        </p:txBody>
      </p:sp>
      <p:sp>
        <p:nvSpPr>
          <p:cNvPr id="13" name="Slide Number Placeholder 12">
            <a:extLst>
              <a:ext uri="{FF2B5EF4-FFF2-40B4-BE49-F238E27FC236}">
                <a16:creationId xmlns:a16="http://schemas.microsoft.com/office/drawing/2014/main" id="{42113F81-72E4-5285-FC52-9F745D5FB2D7}"/>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11</a:t>
            </a:fld>
            <a:endParaRPr lang="en-US"/>
          </a:p>
        </p:txBody>
      </p:sp>
      <p:pic>
        <p:nvPicPr>
          <p:cNvPr id="12" name="Content Placeholder 11">
            <a:extLst>
              <a:ext uri="{FF2B5EF4-FFF2-40B4-BE49-F238E27FC236}">
                <a16:creationId xmlns:a16="http://schemas.microsoft.com/office/drawing/2014/main" id="{9B6EBE4E-6F00-A725-AFA7-BAC17B6B5111}"/>
              </a:ext>
            </a:extLst>
          </p:cNvPr>
          <p:cNvPicPr>
            <a:picLocks noGrp="1" noChangeAspect="1"/>
          </p:cNvPicPr>
          <p:nvPr>
            <p:ph idx="1"/>
          </p:nvPr>
        </p:nvPicPr>
        <p:blipFill>
          <a:blip r:embed="rId2"/>
          <a:stretch>
            <a:fillRect/>
          </a:stretch>
        </p:blipFill>
        <p:spPr>
          <a:xfrm>
            <a:off x="1485261" y="2441575"/>
            <a:ext cx="5125727" cy="3575050"/>
          </a:xfrm>
          <a:prstGeom prst="rect">
            <a:avLst/>
          </a:prstGeom>
        </p:spPr>
      </p:pic>
    </p:spTree>
    <p:extLst>
      <p:ext uri="{BB962C8B-B14F-4D97-AF65-F5344CB8AC3E}">
        <p14:creationId xmlns:p14="http://schemas.microsoft.com/office/powerpoint/2010/main" val="33455615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6800000" scaled="0"/>
        </a:gradFill>
        <a:effectLst/>
      </p:bgPr>
    </p:bg>
    <p:spTree>
      <p:nvGrpSpPr>
        <p:cNvPr id="1" name="">
          <a:extLst>
            <a:ext uri="{FF2B5EF4-FFF2-40B4-BE49-F238E27FC236}">
              <a16:creationId xmlns:a16="http://schemas.microsoft.com/office/drawing/2014/main" id="{96EE6D06-3378-8FD7-6663-F3D4F7661D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AA0E1-643A-ED5B-B6E5-EC2916F2DD18}"/>
              </a:ext>
            </a:extLst>
          </p:cNvPr>
          <p:cNvSpPr>
            <a:spLocks noGrp="1"/>
          </p:cNvSpPr>
          <p:nvPr>
            <p:ph type="title"/>
          </p:nvPr>
        </p:nvSpPr>
        <p:spPr>
          <a:xfrm>
            <a:off x="1078992" y="365760"/>
            <a:ext cx="10277856" cy="1655064"/>
          </a:xfrm>
          <a:noFill/>
        </p:spPr>
        <p:txBody>
          <a:bodyPr>
            <a:noAutofit/>
          </a:bodyPr>
          <a:lstStyle/>
          <a:p>
            <a:r>
              <a:rPr lang="en-US"/>
              <a:t>Trò chuyện</a:t>
            </a:r>
          </a:p>
        </p:txBody>
      </p:sp>
      <p:sp>
        <p:nvSpPr>
          <p:cNvPr id="4" name="Content Placeholder 3">
            <a:extLst>
              <a:ext uri="{FF2B5EF4-FFF2-40B4-BE49-F238E27FC236}">
                <a16:creationId xmlns:a16="http://schemas.microsoft.com/office/drawing/2014/main" id="{E7BAE738-048B-F5B2-B4CA-7729EBE3A2D4}"/>
              </a:ext>
            </a:extLst>
          </p:cNvPr>
          <p:cNvSpPr>
            <a:spLocks noGrp="1"/>
          </p:cNvSpPr>
          <p:nvPr>
            <p:ph idx="13"/>
          </p:nvPr>
        </p:nvSpPr>
        <p:spPr>
          <a:xfrm>
            <a:off x="7671816" y="2441448"/>
            <a:ext cx="3602736" cy="3575304"/>
          </a:xfrm>
          <a:noFill/>
        </p:spPr>
        <p:txBody>
          <a:bodyPr vert="horz" lIns="91440" tIns="45720" rIns="91440" bIns="45720" rtlCol="0" anchor="t">
            <a:normAutofit/>
          </a:bodyPr>
          <a:lstStyle/>
          <a:p>
            <a:r>
              <a:rPr lang="en-US"/>
              <a:t>Nơi người dung trò chuyện với Trợ lý AI.</a:t>
            </a:r>
          </a:p>
          <a:p>
            <a:pPr marL="342900" indent="-342900">
              <a:buFontTx/>
              <a:buChar char="-"/>
            </a:pPr>
            <a:r>
              <a:rPr lang="en-US"/>
              <a:t>Mặc định: Đây là các trợ lý mặc định có sẵn, người dùng không thể xóa, sửa.</a:t>
            </a:r>
          </a:p>
          <a:p>
            <a:pPr marL="342900" indent="-342900">
              <a:buFontTx/>
              <a:buChar char="-"/>
            </a:pPr>
            <a:r>
              <a:rPr lang="en-US"/>
              <a:t>Trợ lý AI: Đây là các trợ lý do người dùng tạo, có thể xóa hoặc sửa thông tin trợ lý cũng như quản lý kho tri thức.</a:t>
            </a:r>
          </a:p>
        </p:txBody>
      </p:sp>
      <p:sp>
        <p:nvSpPr>
          <p:cNvPr id="13" name="Slide Number Placeholder 12">
            <a:extLst>
              <a:ext uri="{FF2B5EF4-FFF2-40B4-BE49-F238E27FC236}">
                <a16:creationId xmlns:a16="http://schemas.microsoft.com/office/drawing/2014/main" id="{14F42559-6AE7-2FF6-FF94-88D03CA2174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12</a:t>
            </a:fld>
            <a:endParaRPr lang="en-US"/>
          </a:p>
        </p:txBody>
      </p:sp>
      <p:pic>
        <p:nvPicPr>
          <p:cNvPr id="11" name="Content Placeholder 10">
            <a:extLst>
              <a:ext uri="{FF2B5EF4-FFF2-40B4-BE49-F238E27FC236}">
                <a16:creationId xmlns:a16="http://schemas.microsoft.com/office/drawing/2014/main" id="{7BCFDE35-7777-33BB-D209-54D3BF17B4D8}"/>
              </a:ext>
            </a:extLst>
          </p:cNvPr>
          <p:cNvPicPr>
            <a:picLocks noGrp="1" noChangeAspect="1"/>
          </p:cNvPicPr>
          <p:nvPr>
            <p:ph idx="1"/>
          </p:nvPr>
        </p:nvPicPr>
        <p:blipFill>
          <a:blip r:embed="rId2"/>
          <a:stretch>
            <a:fillRect/>
          </a:stretch>
        </p:blipFill>
        <p:spPr>
          <a:xfrm>
            <a:off x="1614730" y="2441575"/>
            <a:ext cx="5150953" cy="3575050"/>
          </a:xfrm>
          <a:prstGeom prst="rect">
            <a:avLst/>
          </a:prstGeom>
        </p:spPr>
      </p:pic>
    </p:spTree>
    <p:extLst>
      <p:ext uri="{BB962C8B-B14F-4D97-AF65-F5344CB8AC3E}">
        <p14:creationId xmlns:p14="http://schemas.microsoft.com/office/powerpoint/2010/main" val="29405556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6800000" scaled="0"/>
        </a:gradFill>
        <a:effectLst/>
      </p:bgPr>
    </p:bg>
    <p:spTree>
      <p:nvGrpSpPr>
        <p:cNvPr id="1" name="">
          <a:extLst>
            <a:ext uri="{FF2B5EF4-FFF2-40B4-BE49-F238E27FC236}">
              <a16:creationId xmlns:a16="http://schemas.microsoft.com/office/drawing/2014/main" id="{E8D06363-2510-0996-F263-4401B565DDF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C2127EC-D4B0-E192-0346-A8605A6801DA}"/>
              </a:ext>
            </a:extLst>
          </p:cNvPr>
          <p:cNvSpPr>
            <a:spLocks noGrp="1"/>
          </p:cNvSpPr>
          <p:nvPr>
            <p:ph idx="13"/>
          </p:nvPr>
        </p:nvSpPr>
        <p:spPr>
          <a:xfrm>
            <a:off x="7671816" y="2441448"/>
            <a:ext cx="3602736" cy="3575304"/>
          </a:xfrm>
          <a:noFill/>
        </p:spPr>
        <p:txBody>
          <a:bodyPr vert="horz" lIns="91440" tIns="45720" rIns="91440" bIns="45720" rtlCol="0" anchor="t">
            <a:normAutofit/>
          </a:bodyPr>
          <a:lstStyle/>
          <a:p>
            <a:r>
              <a:rPr lang="en-US"/>
              <a:t>Quản lý các trợ lý AI được tạo bởi người dùng</a:t>
            </a:r>
          </a:p>
        </p:txBody>
      </p:sp>
      <p:sp>
        <p:nvSpPr>
          <p:cNvPr id="13" name="Slide Number Placeholder 12">
            <a:extLst>
              <a:ext uri="{FF2B5EF4-FFF2-40B4-BE49-F238E27FC236}">
                <a16:creationId xmlns:a16="http://schemas.microsoft.com/office/drawing/2014/main" id="{57FCA939-5DE4-A2D9-BA2B-DC9BCD43AE8B}"/>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13</a:t>
            </a:fld>
            <a:endParaRPr lang="en-US"/>
          </a:p>
        </p:txBody>
      </p:sp>
      <p:sp>
        <p:nvSpPr>
          <p:cNvPr id="5" name="Title 4">
            <a:extLst>
              <a:ext uri="{FF2B5EF4-FFF2-40B4-BE49-F238E27FC236}">
                <a16:creationId xmlns:a16="http://schemas.microsoft.com/office/drawing/2014/main" id="{09A6E2BF-B61E-EC32-340A-22A8AA428AC9}"/>
              </a:ext>
            </a:extLst>
          </p:cNvPr>
          <p:cNvSpPr>
            <a:spLocks noGrp="1"/>
          </p:cNvSpPr>
          <p:nvPr>
            <p:ph type="title"/>
          </p:nvPr>
        </p:nvSpPr>
        <p:spPr/>
        <p:txBody>
          <a:bodyPr/>
          <a:lstStyle/>
          <a:p>
            <a:r>
              <a:rPr lang="en-US"/>
              <a:t>Quản lý Trợ lý AI</a:t>
            </a:r>
          </a:p>
        </p:txBody>
      </p:sp>
      <p:pic>
        <p:nvPicPr>
          <p:cNvPr id="12" name="Content Placeholder 11">
            <a:extLst>
              <a:ext uri="{FF2B5EF4-FFF2-40B4-BE49-F238E27FC236}">
                <a16:creationId xmlns:a16="http://schemas.microsoft.com/office/drawing/2014/main" id="{ECF2075D-38DF-3541-0C73-43234549470D}"/>
              </a:ext>
            </a:extLst>
          </p:cNvPr>
          <p:cNvPicPr>
            <a:picLocks noGrp="1" noChangeAspect="1"/>
          </p:cNvPicPr>
          <p:nvPr>
            <p:ph idx="1"/>
          </p:nvPr>
        </p:nvPicPr>
        <p:blipFill>
          <a:blip r:embed="rId2"/>
          <a:stretch>
            <a:fillRect/>
          </a:stretch>
        </p:blipFill>
        <p:spPr>
          <a:xfrm>
            <a:off x="1562327" y="2441575"/>
            <a:ext cx="5133520" cy="3575050"/>
          </a:xfrm>
          <a:prstGeom prst="rect">
            <a:avLst/>
          </a:prstGeom>
        </p:spPr>
      </p:pic>
    </p:spTree>
    <p:extLst>
      <p:ext uri="{BB962C8B-B14F-4D97-AF65-F5344CB8AC3E}">
        <p14:creationId xmlns:p14="http://schemas.microsoft.com/office/powerpoint/2010/main" val="38463014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6800000" scaled="0"/>
        </a:gradFill>
        <a:effectLst/>
      </p:bgPr>
    </p:bg>
    <p:spTree>
      <p:nvGrpSpPr>
        <p:cNvPr id="1" name="">
          <a:extLst>
            <a:ext uri="{FF2B5EF4-FFF2-40B4-BE49-F238E27FC236}">
              <a16:creationId xmlns:a16="http://schemas.microsoft.com/office/drawing/2014/main" id="{7BF02C57-784F-476F-DDC3-B826001555E3}"/>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98FE472-4196-660A-3B02-6B4EE264F464}"/>
              </a:ext>
            </a:extLst>
          </p:cNvPr>
          <p:cNvSpPr>
            <a:spLocks noGrp="1"/>
          </p:cNvSpPr>
          <p:nvPr>
            <p:ph idx="13"/>
          </p:nvPr>
        </p:nvSpPr>
        <p:spPr>
          <a:xfrm>
            <a:off x="7671816" y="2441448"/>
            <a:ext cx="3602736" cy="3575304"/>
          </a:xfrm>
          <a:noFill/>
        </p:spPr>
        <p:txBody>
          <a:bodyPr vert="horz" lIns="91440" tIns="45720" rIns="91440" bIns="45720" rtlCol="0" anchor="t">
            <a:normAutofit lnSpcReduction="10000"/>
          </a:bodyPr>
          <a:lstStyle/>
          <a:p>
            <a:pPr marL="342900" indent="-342900">
              <a:buFontTx/>
              <a:buChar char="-"/>
            </a:pPr>
            <a:r>
              <a:rPr lang="en-US"/>
              <a:t>Quản lý: Các biểu đồ thống kê của trợ lý.</a:t>
            </a:r>
          </a:p>
          <a:p>
            <a:pPr marL="342900" indent="-342900">
              <a:buFontTx/>
              <a:buChar char="-"/>
            </a:pPr>
            <a:r>
              <a:rPr lang="en-US"/>
              <a:t>Hồ sơ: Thông tin cơ bản của trợ lý, prompt hướng dẫn kịch bản.</a:t>
            </a:r>
          </a:p>
          <a:p>
            <a:pPr marL="342900" indent="-342900">
              <a:buFontTx/>
              <a:buChar char="-"/>
            </a:pPr>
            <a:r>
              <a:rPr lang="en-US"/>
              <a:t>Tri thức: Quản lý kho tri thức của trợ lý.</a:t>
            </a:r>
          </a:p>
          <a:p>
            <a:pPr marL="342900" indent="-342900">
              <a:buFontTx/>
              <a:buChar char="-"/>
            </a:pPr>
            <a:r>
              <a:rPr lang="en-US"/>
              <a:t>Tích hợp: Tích hợp vào website.</a:t>
            </a:r>
          </a:p>
          <a:p>
            <a:pPr marL="342900" indent="-342900">
              <a:buFontTx/>
              <a:buChar char="-"/>
            </a:pPr>
            <a:r>
              <a:rPr lang="en-US"/>
              <a:t>Lịch sử trò chuyện: Lịch sử trò chuyện của người dùng với trợ lý.</a:t>
            </a:r>
          </a:p>
        </p:txBody>
      </p:sp>
      <p:sp>
        <p:nvSpPr>
          <p:cNvPr id="13" name="Slide Number Placeholder 12">
            <a:extLst>
              <a:ext uri="{FF2B5EF4-FFF2-40B4-BE49-F238E27FC236}">
                <a16:creationId xmlns:a16="http://schemas.microsoft.com/office/drawing/2014/main" id="{F1C2C01F-65EF-834C-EDFB-5C2CC3B32BBE}"/>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14</a:t>
            </a:fld>
            <a:endParaRPr lang="en-US"/>
          </a:p>
        </p:txBody>
      </p:sp>
      <p:sp>
        <p:nvSpPr>
          <p:cNvPr id="5" name="Title 4">
            <a:extLst>
              <a:ext uri="{FF2B5EF4-FFF2-40B4-BE49-F238E27FC236}">
                <a16:creationId xmlns:a16="http://schemas.microsoft.com/office/drawing/2014/main" id="{6D91CE39-3A04-DC20-1043-4F095A86286D}"/>
              </a:ext>
            </a:extLst>
          </p:cNvPr>
          <p:cNvSpPr>
            <a:spLocks noGrp="1"/>
          </p:cNvSpPr>
          <p:nvPr>
            <p:ph type="title"/>
          </p:nvPr>
        </p:nvSpPr>
        <p:spPr/>
        <p:txBody>
          <a:bodyPr/>
          <a:lstStyle/>
          <a:p>
            <a:r>
              <a:rPr lang="en-US"/>
              <a:t>Quản lý Trợ lý AI</a:t>
            </a:r>
          </a:p>
        </p:txBody>
      </p:sp>
      <p:pic>
        <p:nvPicPr>
          <p:cNvPr id="7" name="Content Placeholder 6">
            <a:extLst>
              <a:ext uri="{FF2B5EF4-FFF2-40B4-BE49-F238E27FC236}">
                <a16:creationId xmlns:a16="http://schemas.microsoft.com/office/drawing/2014/main" id="{6C7F986B-04BB-A82D-3552-506635074ED3}"/>
              </a:ext>
            </a:extLst>
          </p:cNvPr>
          <p:cNvPicPr>
            <a:picLocks noGrp="1" noChangeAspect="1"/>
          </p:cNvPicPr>
          <p:nvPr>
            <p:ph idx="1"/>
          </p:nvPr>
        </p:nvPicPr>
        <p:blipFill>
          <a:blip r:embed="rId2"/>
          <a:stretch>
            <a:fillRect/>
          </a:stretch>
        </p:blipFill>
        <p:spPr>
          <a:xfrm>
            <a:off x="1559099" y="2441575"/>
            <a:ext cx="5139977" cy="3575050"/>
          </a:xfrm>
          <a:prstGeom prst="rect">
            <a:avLst/>
          </a:prstGeom>
        </p:spPr>
      </p:pic>
    </p:spTree>
    <p:extLst>
      <p:ext uri="{BB962C8B-B14F-4D97-AF65-F5344CB8AC3E}">
        <p14:creationId xmlns:p14="http://schemas.microsoft.com/office/powerpoint/2010/main" val="21376284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6800000" scaled="0"/>
        </a:gradFill>
        <a:effectLst/>
      </p:bgPr>
    </p:bg>
    <p:spTree>
      <p:nvGrpSpPr>
        <p:cNvPr id="1" name="">
          <a:extLst>
            <a:ext uri="{FF2B5EF4-FFF2-40B4-BE49-F238E27FC236}">
              <a16:creationId xmlns:a16="http://schemas.microsoft.com/office/drawing/2014/main" id="{8D24F4D6-2449-0AA5-88E5-625240D08B6A}"/>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9610CFF-62D1-99B2-64C2-188468DB8DD6}"/>
              </a:ext>
            </a:extLst>
          </p:cNvPr>
          <p:cNvSpPr>
            <a:spLocks noGrp="1"/>
          </p:cNvSpPr>
          <p:nvPr>
            <p:ph idx="13"/>
          </p:nvPr>
        </p:nvSpPr>
        <p:spPr>
          <a:xfrm>
            <a:off x="7671816" y="2441448"/>
            <a:ext cx="3602736" cy="3575304"/>
          </a:xfrm>
          <a:noFill/>
        </p:spPr>
        <p:txBody>
          <a:bodyPr vert="horz" lIns="91440" tIns="45720" rIns="91440" bIns="45720" rtlCol="0" anchor="t">
            <a:normAutofit/>
          </a:bodyPr>
          <a:lstStyle/>
          <a:p>
            <a:pPr marL="342900" indent="-342900">
              <a:buFontTx/>
              <a:buChar char="-"/>
            </a:pPr>
            <a:r>
              <a:rPr lang="en-US"/>
              <a:t>Quản lý kho tri thức: Thêm/di chuyển/xóa kho tri thức.</a:t>
            </a:r>
          </a:p>
          <a:p>
            <a:pPr marL="342900" indent="-342900">
              <a:buFontTx/>
              <a:buChar char="-"/>
            </a:pPr>
            <a:r>
              <a:rPr lang="en-US"/>
              <a:t>Quản lý tri thức: Thêm (soạn thảo/tải lên/nhập từ hệ thống khác)/xóa/di chuyển/chia sẻ tri thức với người dung khác.</a:t>
            </a:r>
          </a:p>
          <a:p>
            <a:pPr marL="342900" indent="-342900">
              <a:buFontTx/>
              <a:buChar char="-"/>
            </a:pPr>
            <a:r>
              <a:rPr lang="en-US"/>
              <a:t>Tìm kiếm tri thức: Tìm với nội dung/Tên file,…</a:t>
            </a:r>
          </a:p>
        </p:txBody>
      </p:sp>
      <p:sp>
        <p:nvSpPr>
          <p:cNvPr id="13" name="Slide Number Placeholder 12">
            <a:extLst>
              <a:ext uri="{FF2B5EF4-FFF2-40B4-BE49-F238E27FC236}">
                <a16:creationId xmlns:a16="http://schemas.microsoft.com/office/drawing/2014/main" id="{305DE286-D9C2-2B24-7168-A3DD3B0D60D5}"/>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15</a:t>
            </a:fld>
            <a:endParaRPr lang="en-US"/>
          </a:p>
        </p:txBody>
      </p:sp>
      <p:sp>
        <p:nvSpPr>
          <p:cNvPr id="5" name="Title 4">
            <a:extLst>
              <a:ext uri="{FF2B5EF4-FFF2-40B4-BE49-F238E27FC236}">
                <a16:creationId xmlns:a16="http://schemas.microsoft.com/office/drawing/2014/main" id="{D22A2220-E779-DA2C-3E83-A8778BD10BE1}"/>
              </a:ext>
            </a:extLst>
          </p:cNvPr>
          <p:cNvSpPr>
            <a:spLocks noGrp="1"/>
          </p:cNvSpPr>
          <p:nvPr>
            <p:ph type="title"/>
          </p:nvPr>
        </p:nvSpPr>
        <p:spPr/>
        <p:txBody>
          <a:bodyPr/>
          <a:lstStyle/>
          <a:p>
            <a:r>
              <a:rPr lang="en-US"/>
              <a:t>Kho tri thức</a:t>
            </a:r>
          </a:p>
        </p:txBody>
      </p:sp>
      <p:pic>
        <p:nvPicPr>
          <p:cNvPr id="8" name="Content Placeholder 7">
            <a:extLst>
              <a:ext uri="{FF2B5EF4-FFF2-40B4-BE49-F238E27FC236}">
                <a16:creationId xmlns:a16="http://schemas.microsoft.com/office/drawing/2014/main" id="{026A93EC-5EFC-7252-B847-EBA1E64E0677}"/>
              </a:ext>
            </a:extLst>
          </p:cNvPr>
          <p:cNvPicPr>
            <a:picLocks noGrp="1" noChangeAspect="1"/>
          </p:cNvPicPr>
          <p:nvPr>
            <p:ph idx="1"/>
          </p:nvPr>
        </p:nvPicPr>
        <p:blipFill>
          <a:blip r:embed="rId2"/>
          <a:stretch>
            <a:fillRect/>
          </a:stretch>
        </p:blipFill>
        <p:spPr>
          <a:xfrm>
            <a:off x="1567191" y="2441575"/>
            <a:ext cx="5123792" cy="3575050"/>
          </a:xfrm>
          <a:prstGeom prst="rect">
            <a:avLst/>
          </a:prstGeom>
        </p:spPr>
      </p:pic>
    </p:spTree>
    <p:extLst>
      <p:ext uri="{BB962C8B-B14F-4D97-AF65-F5344CB8AC3E}">
        <p14:creationId xmlns:p14="http://schemas.microsoft.com/office/powerpoint/2010/main" val="34915135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D679-0F37-1F6B-098F-07C34A9F1B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5027DF-7FE7-C80E-BBF8-E8327B599A54}"/>
              </a:ext>
            </a:extLst>
          </p:cNvPr>
          <p:cNvSpPr>
            <a:spLocks noGrp="1"/>
          </p:cNvSpPr>
          <p:nvPr>
            <p:ph type="ctrTitle"/>
          </p:nvPr>
        </p:nvSpPr>
        <p:spPr>
          <a:xfrm>
            <a:off x="515938" y="27432"/>
            <a:ext cx="11142662" cy="3566160"/>
          </a:xfrm>
          <a:noFill/>
        </p:spPr>
        <p:txBody>
          <a:bodyPr>
            <a:noAutofit/>
          </a:bodyPr>
          <a:lstStyle/>
          <a:p>
            <a:pPr algn="r"/>
            <a:r>
              <a:rPr lang="en-US" sz="4000"/>
              <a:t>3. Các workflow</a:t>
            </a:r>
          </a:p>
        </p:txBody>
      </p:sp>
    </p:spTree>
    <p:extLst>
      <p:ext uri="{BB962C8B-B14F-4D97-AF65-F5344CB8AC3E}">
        <p14:creationId xmlns:p14="http://schemas.microsoft.com/office/powerpoint/2010/main" val="27286925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1078992" y="365760"/>
            <a:ext cx="10277856" cy="1655064"/>
          </a:xfrm>
          <a:noFill/>
        </p:spPr>
        <p:txBody>
          <a:bodyPr anchor="b">
            <a:noAutofit/>
          </a:bodyPr>
          <a:lstStyle/>
          <a:p>
            <a:r>
              <a:rPr lang="en-US"/>
              <a:t>Workflow</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idx="1"/>
          </p:nvPr>
        </p:nvSpPr>
        <p:spPr>
          <a:xfrm>
            <a:off x="1078992" y="2256513"/>
            <a:ext cx="3602736" cy="3575304"/>
          </a:xfrm>
          <a:noFill/>
        </p:spPr>
        <p:txBody>
          <a:bodyPr vert="horz" lIns="91440" tIns="45720" rIns="91440" bIns="45720" rtlCol="0" anchor="t">
            <a:normAutofit/>
          </a:bodyPr>
          <a:lstStyle/>
          <a:p>
            <a:r>
              <a:rPr lang="en-US"/>
              <a:t>Là chuỗi các thao tác của người dung trên hệ thống để thực hiện một tác vụ nhất định.</a:t>
            </a:r>
          </a:p>
        </p:txBody>
      </p:sp>
      <p:sp>
        <p:nvSpPr>
          <p:cNvPr id="14" name="Slide Number Placeholder 13">
            <a:extLst>
              <a:ext uri="{FF2B5EF4-FFF2-40B4-BE49-F238E27FC236}">
                <a16:creationId xmlns:a16="http://schemas.microsoft.com/office/drawing/2014/main" id="{3F21905C-1BD6-BF3F-5B8B-B9AD53017014}"/>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17</a:t>
            </a:fld>
            <a:endParaRPr lang="en-US"/>
          </a:p>
        </p:txBody>
      </p:sp>
      <p:sp>
        <p:nvSpPr>
          <p:cNvPr id="7" name="Content Placeholder 2">
            <a:extLst>
              <a:ext uri="{FF2B5EF4-FFF2-40B4-BE49-F238E27FC236}">
                <a16:creationId xmlns:a16="http://schemas.microsoft.com/office/drawing/2014/main" id="{7888A107-C3E4-DFF7-E1A8-F207A5BFE91D}"/>
              </a:ext>
            </a:extLst>
          </p:cNvPr>
          <p:cNvSpPr txBox="1">
            <a:spLocks/>
          </p:cNvSpPr>
          <p:nvPr/>
        </p:nvSpPr>
        <p:spPr>
          <a:xfrm>
            <a:off x="6217920" y="2256513"/>
            <a:ext cx="3602736" cy="3575304"/>
          </a:xfrm>
          <a:prstGeom prst="rect">
            <a:avLst/>
          </a:prstGeom>
          <a:noFill/>
        </p:spPr>
        <p:txBody>
          <a:bodyPr vert="horz" lIns="91440" tIns="45720" rIns="91440" bIns="45720" rtlCol="0" anchor="t" anchorCtr="0">
            <a:norm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Các workflow cơ bản:</a:t>
            </a:r>
          </a:p>
          <a:p>
            <a:pPr marL="457200" indent="-457200">
              <a:buAutoNum type="arabicPeriod"/>
            </a:pPr>
            <a:r>
              <a:rPr lang="en-US"/>
              <a:t>Tạo và sử dụng Trợ lý AI</a:t>
            </a:r>
          </a:p>
          <a:p>
            <a:pPr marL="457200" indent="-457200">
              <a:buAutoNum type="arabicPeriod"/>
            </a:pPr>
            <a:r>
              <a:rPr lang="en-US"/>
              <a:t>Tra cứu tài liệu</a:t>
            </a:r>
          </a:p>
          <a:p>
            <a:pPr marL="457200" indent="-457200">
              <a:buAutoNum type="arabicPeriod"/>
            </a:pPr>
            <a:r>
              <a:rPr lang="en-US"/>
              <a:t>Tạo và sử dụng tính năng </a:t>
            </a:r>
          </a:p>
          <a:p>
            <a:pPr marL="457200" indent="-457200">
              <a:buAutoNum type="arabicPeriod"/>
            </a:pPr>
            <a:r>
              <a:rPr lang="en-US"/>
              <a:t>Tạo trợ lý AI tùy biến theo mục đích sử dụng</a:t>
            </a:r>
          </a:p>
          <a:p>
            <a:pPr marL="457200" indent="-457200">
              <a:buAutoNum type="arabicPeriod"/>
            </a:pPr>
            <a:r>
              <a:rPr lang="en-US"/>
              <a:t>Thêm mới tri thức cho trợ lý AI</a:t>
            </a:r>
          </a:p>
        </p:txBody>
      </p:sp>
    </p:spTree>
    <p:extLst>
      <p:ext uri="{BB962C8B-B14F-4D97-AF65-F5344CB8AC3E}">
        <p14:creationId xmlns:p14="http://schemas.microsoft.com/office/powerpoint/2010/main" val="6437779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612648" y="1600200"/>
            <a:ext cx="10991088" cy="3657600"/>
          </a:xfrm>
          <a:noFill/>
        </p:spPr>
        <p:txBody>
          <a:bodyPr anchor="ctr">
            <a:noAutofit/>
          </a:bodyPr>
          <a:lstStyle/>
          <a:p>
            <a:r>
              <a:rPr lang="en-US"/>
              <a:t>CHÂN THÀNH CẢM ƠN!</a:t>
            </a:r>
          </a:p>
        </p:txBody>
      </p:sp>
    </p:spTree>
    <p:extLst>
      <p:ext uri="{BB962C8B-B14F-4D97-AF65-F5344CB8AC3E}">
        <p14:creationId xmlns:p14="http://schemas.microsoft.com/office/powerpoint/2010/main" val="30580855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076243_win32_CP_V3" id="{81AB0711-29F9-49D0-8A73-16AF25FD4C08}" vid="{D5AD44AB-53B9-4654-A4F8-1821A28F27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C07E3D-60A7-4F4E-8208-D9CCD01982CB}">
  <ds:schemaRefs>
    <ds:schemaRef ds:uri="http://schemas.microsoft.com/sharepoint/v3/contenttype/forms"/>
  </ds:schemaRefs>
</ds:datastoreItem>
</file>

<file path=customXml/itemProps2.xml><?xml version="1.0" encoding="utf-8"?>
<ds:datastoreItem xmlns:ds="http://schemas.openxmlformats.org/officeDocument/2006/customXml" ds:itemID="{CEA9B47F-3DD8-4645-81DC-B88780643C07}">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567F3CB5-3475-4129-AB60-D0C937DE91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Blue spheres presentation</Template>
  <TotalTime>55</TotalTime>
  <Words>852</Words>
  <Application>Microsoft Office PowerPoint</Application>
  <PresentationFormat>Widescreen</PresentationFormat>
  <Paragraphs>77</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Calibri</vt:lpstr>
      <vt:lpstr>Wingdings</vt:lpstr>
      <vt:lpstr>Custom</vt:lpstr>
      <vt:lpstr>TẬP HUẤN SỬ DỤNG TRỢ LÝ ẢO VIAIBOT</vt:lpstr>
      <vt:lpstr>NỘI DUNG</vt:lpstr>
      <vt:lpstr>1. Giới thiệu Generative AI (Gen AI),  Large Language Model (LLM),  Retrieval-Augmented Generation (RAG) </vt:lpstr>
      <vt:lpstr>Generative AI (Gen AI) là gì?</vt:lpstr>
      <vt:lpstr>Large Language Model (LLM)</vt:lpstr>
      <vt:lpstr>Retrieval-Augmented Generation (RAG)</vt:lpstr>
      <vt:lpstr>Mối liên hệ giữa GenAI, LLM và RAG</vt:lpstr>
      <vt:lpstr>2. Giới thiệu tổng quan VIAIBOT</vt:lpstr>
      <vt:lpstr>Các tính năng chính</vt:lpstr>
      <vt:lpstr>Trang chủ</vt:lpstr>
      <vt:lpstr>Tạo trợ lý AI</vt:lpstr>
      <vt:lpstr>Trò chuyện</vt:lpstr>
      <vt:lpstr>Quản lý Trợ lý AI</vt:lpstr>
      <vt:lpstr>Quản lý Trợ lý AI</vt:lpstr>
      <vt:lpstr>Kho tri thức</vt:lpstr>
      <vt:lpstr>3. Các workflow</vt:lpstr>
      <vt:lpstr>Workflow</vt:lpstr>
      <vt:lpstr>CHÂN THÀNH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Thanh-Giảng Phan</dc:creator>
  <cp:lastModifiedBy>Thanh-Giảng Phan</cp:lastModifiedBy>
  <cp:revision>1</cp:revision>
  <dcterms:created xsi:type="dcterms:W3CDTF">2025-10-23T01:28:51Z</dcterms:created>
  <dcterms:modified xsi:type="dcterms:W3CDTF">2025-10-23T02:24:09Z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